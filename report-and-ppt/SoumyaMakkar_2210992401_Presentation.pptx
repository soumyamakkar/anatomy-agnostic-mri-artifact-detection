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hBRnD5NTtYmQV+WyYxEFEeicZb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FFD9F1-3956-4394-8E4F-CE18DC0DF6D3}">
  <a:tblStyle styleId="{BBFFD9F1-3956-4394-8E4F-CE18DC0DF6D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296112488_0_40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e296112488_0_40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296112488_0_41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e296112488_0_4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296112488_0_41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e296112488_0_41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296112488_0_48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e296112488_0_48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296112488_0_48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e296112488_0_48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296112488_0_50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e296112488_0_50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2b354850a_0_66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e2b354850a_0_66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2b354850a_0_134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e2b354850a_0_134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3.png"/><Relationship Id="rId2" Type="http://schemas.openxmlformats.org/officeDocument/2006/relationships/image" Target="../media/image8.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963981"/>
            <a:ext cx="9144000" cy="537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a:p>
          <a:p>
            <a:pPr indent="0" lvl="0" marL="0" rtl="0" algn="ctr">
              <a:lnSpc>
                <a:spcPct val="115000"/>
              </a:lnSpc>
              <a:spcBef>
                <a:spcPts val="0"/>
              </a:spcBef>
              <a:spcAft>
                <a:spcPts val="0"/>
              </a:spcAft>
              <a:buSzPts val="1100"/>
              <a:buNone/>
            </a:pPr>
            <a:r>
              <a:rPr lang="en-US" sz="4800">
                <a:solidFill>
                  <a:schemeClr val="dk1"/>
                </a:solidFill>
                <a:latin typeface="Times New Roman"/>
                <a:ea typeface="Times New Roman"/>
                <a:cs typeface="Times New Roman"/>
                <a:sym typeface="Times New Roman"/>
              </a:rPr>
              <a:t>Towards Anatomy-Agnostic MRI Artifact Detection Using Unsupervised Learning</a:t>
            </a:r>
            <a:endParaRPr sz="4800">
              <a:solidFill>
                <a:schemeClr val="dk1"/>
              </a:solidFill>
              <a:latin typeface="Times New Roman"/>
              <a:ea typeface="Times New Roman"/>
              <a:cs typeface="Times New Roman"/>
              <a:sym typeface="Times New Roman"/>
            </a:endParaRPr>
          </a:p>
          <a:p>
            <a:pPr indent="0" lvl="0" marL="0" marR="0" rtl="0" algn="ctr">
              <a:lnSpc>
                <a:spcPct val="100000"/>
              </a:lnSpc>
              <a:spcBef>
                <a:spcPts val="6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Soumya Makkar</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2210992401</a:t>
            </a:r>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Dr. Gurpreet Singh</a:t>
            </a:r>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147600" y="25"/>
            <a:ext cx="57453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INTRODUCTION &amp; MOTIVATION</a:t>
            </a:r>
            <a:endParaRPr b="0" i="0" sz="27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307450" y="1669075"/>
            <a:ext cx="4098900" cy="15699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900"/>
              </a:spcBef>
              <a:spcAft>
                <a:spcPts val="900"/>
              </a:spcAft>
              <a:buNone/>
            </a:pPr>
            <a:r>
              <a:rPr b="1" lang="en-US" sz="1500">
                <a:solidFill>
                  <a:schemeClr val="dk1"/>
                </a:solidFill>
                <a:latin typeface="Times New Roman"/>
                <a:ea typeface="Times New Roman"/>
                <a:cs typeface="Times New Roman"/>
                <a:sym typeface="Times New Roman"/>
              </a:rPr>
              <a:t>MRI is a critical non-invasive imaging tool used for diagnosis and treatment planning. However, artifacts such as motion, ghosting, and blur frequently occur during acquisition. These artifacts can degrade image quality, mimic pathology, or even make scans unusable.</a:t>
            </a:r>
            <a:endParaRPr b="1">
              <a:solidFill>
                <a:schemeClr val="dk1"/>
              </a:solidFill>
              <a:latin typeface="Times New Roman"/>
              <a:ea typeface="Times New Roman"/>
              <a:cs typeface="Times New Roman"/>
              <a:sym typeface="Times New Roman"/>
            </a:endParaRPr>
          </a:p>
        </p:txBody>
      </p:sp>
      <p:sp>
        <p:nvSpPr>
          <p:cNvPr id="92" name="Google Shape;92;p2"/>
          <p:cNvSpPr txBox="1"/>
          <p:nvPr/>
        </p:nvSpPr>
        <p:spPr>
          <a:xfrm>
            <a:off x="147600" y="975100"/>
            <a:ext cx="8175000" cy="5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latin typeface="Times New Roman"/>
                <a:ea typeface="Times New Roman"/>
                <a:cs typeface="Times New Roman"/>
                <a:sym typeface="Times New Roman"/>
              </a:rPr>
              <a:t>WHY MRI ARTIFACT DETECTION MATTERS</a:t>
            </a:r>
            <a:endParaRPr b="1" sz="2800">
              <a:solidFill>
                <a:schemeClr val="dk1"/>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b="0" l="24710" r="25087" t="0"/>
          <a:stretch/>
        </p:blipFill>
        <p:spPr>
          <a:xfrm>
            <a:off x="4723400" y="1577025"/>
            <a:ext cx="4273001" cy="5079850"/>
          </a:xfrm>
          <a:prstGeom prst="rect">
            <a:avLst/>
          </a:prstGeom>
          <a:noFill/>
          <a:ln>
            <a:noFill/>
          </a:ln>
        </p:spPr>
      </p:pic>
      <p:pic>
        <p:nvPicPr>
          <p:cNvPr id="94" name="Google Shape;94;p2"/>
          <p:cNvPicPr preferRelativeResize="0"/>
          <p:nvPr/>
        </p:nvPicPr>
        <p:blipFill rotWithShape="1">
          <a:blip r:embed="rId4">
            <a:alphaModFix/>
          </a:blip>
          <a:srcRect b="0" l="0" r="0" t="5321"/>
          <a:stretch/>
        </p:blipFill>
        <p:spPr>
          <a:xfrm>
            <a:off x="147600" y="3376450"/>
            <a:ext cx="4418600" cy="1728600"/>
          </a:xfrm>
          <a:prstGeom prst="rect">
            <a:avLst/>
          </a:prstGeom>
          <a:noFill/>
          <a:ln>
            <a:noFill/>
          </a:ln>
        </p:spPr>
      </p:pic>
      <p:sp>
        <p:nvSpPr>
          <p:cNvPr id="95" name="Google Shape;95;p2"/>
          <p:cNvSpPr/>
          <p:nvPr/>
        </p:nvSpPr>
        <p:spPr>
          <a:xfrm>
            <a:off x="0" y="5369725"/>
            <a:ext cx="4554300" cy="837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2"/>
          <p:cNvSpPr/>
          <p:nvPr/>
        </p:nvSpPr>
        <p:spPr>
          <a:xfrm>
            <a:off x="0" y="5369725"/>
            <a:ext cx="147600" cy="837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2"/>
          <p:cNvSpPr txBox="1"/>
          <p:nvPr/>
        </p:nvSpPr>
        <p:spPr>
          <a:xfrm>
            <a:off x="192250" y="5369725"/>
            <a:ext cx="4329300" cy="1200600"/>
          </a:xfrm>
          <a:prstGeom prst="rect">
            <a:avLst/>
          </a:prstGeom>
          <a:noFill/>
          <a:ln>
            <a:noFill/>
          </a:ln>
        </p:spPr>
        <p:txBody>
          <a:bodyPr anchorCtr="0" anchor="t" bIns="91425" lIns="91425" spcFirstLastPara="1" rIns="91425" wrap="square" tIns="91425">
            <a:spAutoFit/>
          </a:bodyPr>
          <a:lstStyle/>
          <a:p>
            <a:pPr indent="0" lvl="0" marL="0" rtl="0" algn="l">
              <a:lnSpc>
                <a:spcPct val="162500"/>
              </a:lnSpc>
              <a:spcBef>
                <a:spcPts val="900"/>
              </a:spcBef>
              <a:spcAft>
                <a:spcPts val="0"/>
              </a:spcAft>
              <a:buNone/>
            </a:pPr>
            <a:r>
              <a:rPr b="1" i="1" lang="en-US">
                <a:solidFill>
                  <a:schemeClr val="dk1"/>
                </a:solidFill>
                <a:latin typeface="Times New Roman"/>
                <a:ea typeface="Times New Roman"/>
                <a:cs typeface="Times New Roman"/>
                <a:sym typeface="Times New Roman"/>
              </a:rPr>
              <a:t>Therefore, automatic and scalable MRI artifact detection is essential for robust image quality control.</a:t>
            </a:r>
            <a:endParaRPr b="1" i="1">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t/>
            </a:r>
            <a:endParaRPr sz="13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e296112488_0_400"/>
          <p:cNvSpPr txBox="1"/>
          <p:nvPr/>
        </p:nvSpPr>
        <p:spPr>
          <a:xfrm>
            <a:off x="347325" y="0"/>
            <a:ext cx="57453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RESEARCH GAP</a:t>
            </a:r>
            <a:endParaRPr b="0" i="0" sz="2700" u="none" cap="none" strike="noStrike">
              <a:solidFill>
                <a:srgbClr val="000000"/>
              </a:solidFill>
              <a:latin typeface="Times New Roman"/>
              <a:ea typeface="Times New Roman"/>
              <a:cs typeface="Times New Roman"/>
              <a:sym typeface="Times New Roman"/>
            </a:endParaRPr>
          </a:p>
        </p:txBody>
      </p:sp>
      <p:sp>
        <p:nvSpPr>
          <p:cNvPr id="103" name="Google Shape;103;g3e296112488_0_40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04" name="Google Shape;104;g3e296112488_0_400"/>
          <p:cNvSpPr txBox="1"/>
          <p:nvPr/>
        </p:nvSpPr>
        <p:spPr>
          <a:xfrm>
            <a:off x="347325" y="1095375"/>
            <a:ext cx="8797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600">
                <a:latin typeface="Times New Roman"/>
                <a:ea typeface="Times New Roman"/>
                <a:cs typeface="Times New Roman"/>
                <a:sym typeface="Times New Roman"/>
              </a:rPr>
              <a:t>CURRENT METHODS FAIL TO GENERALIZE ACROSS DIVERSE REAL</a:t>
            </a:r>
            <a:r>
              <a:rPr b="1" lang="en-US" sz="2600">
                <a:solidFill>
                  <a:srgbClr val="000000"/>
                </a:solidFill>
                <a:latin typeface="Times New Roman"/>
                <a:ea typeface="Times New Roman"/>
                <a:cs typeface="Times New Roman"/>
                <a:sym typeface="Times New Roman"/>
              </a:rPr>
              <a:t>-</a:t>
            </a:r>
            <a:r>
              <a:rPr b="1" lang="en-US" sz="2600">
                <a:latin typeface="Times New Roman"/>
                <a:ea typeface="Times New Roman"/>
                <a:cs typeface="Times New Roman"/>
                <a:sym typeface="Times New Roman"/>
              </a:rPr>
              <a:t>WORLD MRI SCENARIOS</a:t>
            </a:r>
            <a:endParaRPr b="1" sz="2600">
              <a:solidFill>
                <a:srgbClr val="000000"/>
              </a:solidFill>
              <a:latin typeface="Times New Roman"/>
              <a:ea typeface="Times New Roman"/>
              <a:cs typeface="Times New Roman"/>
              <a:sym typeface="Times New Roman"/>
            </a:endParaRPr>
          </a:p>
        </p:txBody>
      </p:sp>
      <p:sp>
        <p:nvSpPr>
          <p:cNvPr id="105" name="Google Shape;105;g3e296112488_0_400"/>
          <p:cNvSpPr/>
          <p:nvPr/>
        </p:nvSpPr>
        <p:spPr>
          <a:xfrm>
            <a:off x="0" y="5477050"/>
            <a:ext cx="9144000" cy="97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g3e296112488_0_400"/>
          <p:cNvSpPr/>
          <p:nvPr/>
        </p:nvSpPr>
        <p:spPr>
          <a:xfrm>
            <a:off x="0" y="5477050"/>
            <a:ext cx="147600" cy="972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7" name="Google Shape;107;g3e296112488_0_400"/>
          <p:cNvGrpSpPr/>
          <p:nvPr/>
        </p:nvGrpSpPr>
        <p:grpSpPr>
          <a:xfrm>
            <a:off x="347321" y="1829550"/>
            <a:ext cx="7952558" cy="4619925"/>
            <a:chOff x="142875" y="142875"/>
            <a:chExt cx="4286400" cy="4422250"/>
          </a:xfrm>
        </p:grpSpPr>
        <p:sp>
          <p:nvSpPr>
            <p:cNvPr id="108" name="Google Shape;108;g3e296112488_0_400"/>
            <p:cNvSpPr txBox="1"/>
            <p:nvPr/>
          </p:nvSpPr>
          <p:spPr>
            <a:xfrm>
              <a:off x="142875" y="142875"/>
              <a:ext cx="4286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2000">
                <a:solidFill>
                  <a:srgbClr val="000000"/>
                </a:solidFill>
                <a:latin typeface="Times New Roman"/>
                <a:ea typeface="Times New Roman"/>
                <a:cs typeface="Times New Roman"/>
                <a:sym typeface="Times New Roman"/>
              </a:endParaRPr>
            </a:p>
          </p:txBody>
        </p:sp>
        <p:grpSp>
          <p:nvGrpSpPr>
            <p:cNvPr id="109" name="Google Shape;109;g3e296112488_0_400"/>
            <p:cNvGrpSpPr/>
            <p:nvPr/>
          </p:nvGrpSpPr>
          <p:grpSpPr>
            <a:xfrm>
              <a:off x="142875" y="2619375"/>
              <a:ext cx="4286400" cy="571500"/>
              <a:chOff x="0" y="0"/>
              <a:chExt cx="4286400" cy="571500"/>
            </a:xfrm>
          </p:grpSpPr>
          <p:sp>
            <p:nvSpPr>
              <p:cNvPr id="110" name="Google Shape;110;g3e296112488_0_400"/>
              <p:cNvSpPr/>
              <p:nvPr/>
            </p:nvSpPr>
            <p:spPr>
              <a:xfrm>
                <a:off x="0" y="0"/>
                <a:ext cx="4286400" cy="571500"/>
              </a:xfrm>
              <a:prstGeom prst="roundRect">
                <a:avLst>
                  <a:gd fmla="val 8333"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g3e296112488_0_400"/>
              <p:cNvSpPr txBox="1"/>
              <p:nvPr/>
            </p:nvSpPr>
            <p:spPr>
              <a:xfrm>
                <a:off x="571500" y="9525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90">
                    <a:solidFill>
                      <a:srgbClr val="FF4500"/>
                    </a:solidFill>
                    <a:latin typeface="Times New Roman"/>
                    <a:ea typeface="Times New Roman"/>
                    <a:cs typeface="Times New Roman"/>
                    <a:sym typeface="Times New Roman"/>
                  </a:rPr>
                  <a:t>Real-world Validity:</a:t>
                </a:r>
                <a:r>
                  <a:rPr b="0" lang="en-US" sz="1890">
                    <a:solidFill>
                      <a:srgbClr val="333333"/>
                    </a:solidFill>
                    <a:latin typeface="Times New Roman"/>
                    <a:ea typeface="Times New Roman"/>
                    <a:cs typeface="Times New Roman"/>
                    <a:sym typeface="Times New Roman"/>
                  </a:rPr>
                  <a:t> Synthetic artifact evaluation fails to reflect actual motion corruption.</a:t>
                </a:r>
                <a:endParaRPr b="0" sz="1890">
                  <a:solidFill>
                    <a:srgbClr val="333333"/>
                  </a:solidFill>
                  <a:latin typeface="Times New Roman"/>
                  <a:ea typeface="Times New Roman"/>
                  <a:cs typeface="Times New Roman"/>
                  <a:sym typeface="Times New Roman"/>
                </a:endParaRPr>
              </a:p>
            </p:txBody>
          </p:sp>
          <p:sp>
            <p:nvSpPr>
              <p:cNvPr id="112" name="Google Shape;112;g3e296112488_0_400"/>
              <p:cNvSpPr txBox="1"/>
              <p:nvPr/>
            </p:nvSpPr>
            <p:spPr>
              <a:xfrm>
                <a:off x="95250" y="13614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FF4500"/>
                    </a:solidFill>
                    <a:latin typeface="Material Icons"/>
                    <a:ea typeface="Material Icons"/>
                    <a:cs typeface="Material Icons"/>
                    <a:sym typeface="Material Icons"/>
                  </a:rPr>
                  <a:t>warning</a:t>
                </a:r>
                <a:endParaRPr sz="2380">
                  <a:solidFill>
                    <a:srgbClr val="FF4500"/>
                  </a:solidFill>
                  <a:latin typeface="Material Icons"/>
                  <a:ea typeface="Material Icons"/>
                  <a:cs typeface="Material Icons"/>
                  <a:sym typeface="Material Icons"/>
                </a:endParaRPr>
              </a:p>
            </p:txBody>
          </p:sp>
        </p:grpSp>
        <p:grpSp>
          <p:nvGrpSpPr>
            <p:cNvPr id="113" name="Google Shape;113;g3e296112488_0_400"/>
            <p:cNvGrpSpPr/>
            <p:nvPr/>
          </p:nvGrpSpPr>
          <p:grpSpPr>
            <a:xfrm>
              <a:off x="142875" y="1952625"/>
              <a:ext cx="4286400" cy="571500"/>
              <a:chOff x="0" y="0"/>
              <a:chExt cx="4286400" cy="571500"/>
            </a:xfrm>
          </p:grpSpPr>
          <p:sp>
            <p:nvSpPr>
              <p:cNvPr id="114" name="Google Shape;114;g3e296112488_0_400"/>
              <p:cNvSpPr/>
              <p:nvPr/>
            </p:nvSpPr>
            <p:spPr>
              <a:xfrm>
                <a:off x="0" y="0"/>
                <a:ext cx="4286400" cy="571500"/>
              </a:xfrm>
              <a:prstGeom prst="roundRect">
                <a:avLst>
                  <a:gd fmla="val 8333"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g3e296112488_0_400"/>
              <p:cNvSpPr txBox="1"/>
              <p:nvPr/>
            </p:nvSpPr>
            <p:spPr>
              <a:xfrm>
                <a:off x="571500" y="9525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90">
                    <a:solidFill>
                      <a:srgbClr val="FF4500"/>
                    </a:solidFill>
                    <a:latin typeface="Times New Roman"/>
                    <a:ea typeface="Times New Roman"/>
                    <a:cs typeface="Times New Roman"/>
                    <a:sym typeface="Times New Roman"/>
                  </a:rPr>
                  <a:t>Generalization:</a:t>
                </a:r>
                <a:r>
                  <a:rPr b="0" lang="en-US" sz="1890">
                    <a:solidFill>
                      <a:srgbClr val="333333"/>
                    </a:solidFill>
                    <a:latin typeface="Times New Roman"/>
                    <a:ea typeface="Times New Roman"/>
                    <a:cs typeface="Times New Roman"/>
                    <a:sym typeface="Times New Roman"/>
                  </a:rPr>
                  <a:t> Limited performance across different scanners and diverse datasets.</a:t>
                </a:r>
                <a:endParaRPr b="0" sz="1890">
                  <a:solidFill>
                    <a:srgbClr val="333333"/>
                  </a:solidFill>
                  <a:latin typeface="Times New Roman"/>
                  <a:ea typeface="Times New Roman"/>
                  <a:cs typeface="Times New Roman"/>
                  <a:sym typeface="Times New Roman"/>
                </a:endParaRPr>
              </a:p>
            </p:txBody>
          </p:sp>
          <p:sp>
            <p:nvSpPr>
              <p:cNvPr id="116" name="Google Shape;116;g3e296112488_0_400"/>
              <p:cNvSpPr txBox="1"/>
              <p:nvPr/>
            </p:nvSpPr>
            <p:spPr>
              <a:xfrm>
                <a:off x="95250" y="13614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FF4500"/>
                    </a:solidFill>
                    <a:latin typeface="Material Icons"/>
                    <a:ea typeface="Material Icons"/>
                    <a:cs typeface="Material Icons"/>
                    <a:sym typeface="Material Icons"/>
                  </a:rPr>
                  <a:t>settings_input_component</a:t>
                </a:r>
                <a:endParaRPr sz="2380">
                  <a:solidFill>
                    <a:srgbClr val="FF4500"/>
                  </a:solidFill>
                  <a:latin typeface="Material Icons"/>
                  <a:ea typeface="Material Icons"/>
                  <a:cs typeface="Material Icons"/>
                  <a:sym typeface="Material Icons"/>
                </a:endParaRPr>
              </a:p>
            </p:txBody>
          </p:sp>
        </p:grpSp>
        <p:grpSp>
          <p:nvGrpSpPr>
            <p:cNvPr id="117" name="Google Shape;117;g3e296112488_0_400"/>
            <p:cNvGrpSpPr/>
            <p:nvPr/>
          </p:nvGrpSpPr>
          <p:grpSpPr>
            <a:xfrm>
              <a:off x="142875" y="1285875"/>
              <a:ext cx="4286400" cy="571500"/>
              <a:chOff x="0" y="0"/>
              <a:chExt cx="4286400" cy="571500"/>
            </a:xfrm>
          </p:grpSpPr>
          <p:sp>
            <p:nvSpPr>
              <p:cNvPr id="118" name="Google Shape;118;g3e296112488_0_400"/>
              <p:cNvSpPr/>
              <p:nvPr/>
            </p:nvSpPr>
            <p:spPr>
              <a:xfrm>
                <a:off x="0" y="0"/>
                <a:ext cx="4286400" cy="571500"/>
              </a:xfrm>
              <a:prstGeom prst="roundRect">
                <a:avLst>
                  <a:gd fmla="val 8333"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g3e296112488_0_400"/>
              <p:cNvSpPr txBox="1"/>
              <p:nvPr/>
            </p:nvSpPr>
            <p:spPr>
              <a:xfrm>
                <a:off x="571500" y="9525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90">
                    <a:solidFill>
                      <a:srgbClr val="FF4500"/>
                    </a:solidFill>
                    <a:latin typeface="Times New Roman"/>
                    <a:ea typeface="Times New Roman"/>
                    <a:cs typeface="Times New Roman"/>
                    <a:sym typeface="Times New Roman"/>
                  </a:rPr>
                  <a:t>Anatomy Focus:</a:t>
                </a:r>
                <a:r>
                  <a:rPr b="0" lang="en-US" sz="1890">
                    <a:solidFill>
                      <a:srgbClr val="333333"/>
                    </a:solidFill>
                    <a:latin typeface="Times New Roman"/>
                    <a:ea typeface="Times New Roman"/>
                    <a:cs typeface="Times New Roman"/>
                    <a:sym typeface="Times New Roman"/>
                  </a:rPr>
                  <a:t> Restricted to single anatomy (e.g. Brain); learns anatomy-specific features.</a:t>
                </a:r>
                <a:endParaRPr b="0" sz="1890">
                  <a:solidFill>
                    <a:srgbClr val="333333"/>
                  </a:solidFill>
                  <a:latin typeface="Times New Roman"/>
                  <a:ea typeface="Times New Roman"/>
                  <a:cs typeface="Times New Roman"/>
                  <a:sym typeface="Times New Roman"/>
                </a:endParaRPr>
              </a:p>
            </p:txBody>
          </p:sp>
          <p:sp>
            <p:nvSpPr>
              <p:cNvPr id="120" name="Google Shape;120;g3e296112488_0_400"/>
              <p:cNvSpPr txBox="1"/>
              <p:nvPr/>
            </p:nvSpPr>
            <p:spPr>
              <a:xfrm>
                <a:off x="95250" y="13614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FF4500"/>
                    </a:solidFill>
                    <a:latin typeface="Material Icons"/>
                    <a:ea typeface="Material Icons"/>
                    <a:cs typeface="Material Icons"/>
                    <a:sym typeface="Material Icons"/>
                  </a:rPr>
                  <a:t>biotech</a:t>
                </a:r>
                <a:endParaRPr sz="2380">
                  <a:solidFill>
                    <a:srgbClr val="FF4500"/>
                  </a:solidFill>
                  <a:latin typeface="Material Icons"/>
                  <a:ea typeface="Material Icons"/>
                  <a:cs typeface="Material Icons"/>
                  <a:sym typeface="Material Icons"/>
                </a:endParaRPr>
              </a:p>
            </p:txBody>
          </p:sp>
        </p:grpSp>
        <p:grpSp>
          <p:nvGrpSpPr>
            <p:cNvPr id="121" name="Google Shape;121;g3e296112488_0_400"/>
            <p:cNvGrpSpPr/>
            <p:nvPr/>
          </p:nvGrpSpPr>
          <p:grpSpPr>
            <a:xfrm>
              <a:off x="142875" y="619125"/>
              <a:ext cx="4286400" cy="571500"/>
              <a:chOff x="0" y="0"/>
              <a:chExt cx="4286400" cy="571500"/>
            </a:xfrm>
          </p:grpSpPr>
          <p:sp>
            <p:nvSpPr>
              <p:cNvPr id="122" name="Google Shape;122;g3e296112488_0_400"/>
              <p:cNvSpPr/>
              <p:nvPr/>
            </p:nvSpPr>
            <p:spPr>
              <a:xfrm>
                <a:off x="0" y="0"/>
                <a:ext cx="4286400" cy="571500"/>
              </a:xfrm>
              <a:prstGeom prst="roundRect">
                <a:avLst>
                  <a:gd fmla="val 8333"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g3e296112488_0_400"/>
              <p:cNvSpPr txBox="1"/>
              <p:nvPr/>
            </p:nvSpPr>
            <p:spPr>
              <a:xfrm>
                <a:off x="571500" y="9525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90">
                    <a:solidFill>
                      <a:srgbClr val="FF4500"/>
                    </a:solidFill>
                    <a:latin typeface="Times New Roman"/>
                    <a:ea typeface="Times New Roman"/>
                    <a:cs typeface="Times New Roman"/>
                    <a:sym typeface="Times New Roman"/>
                  </a:rPr>
                  <a:t>Supervision &amp; Labels:</a:t>
                </a:r>
                <a:r>
                  <a:rPr b="0" lang="en-US" sz="1890">
                    <a:solidFill>
                      <a:srgbClr val="333333"/>
                    </a:solidFill>
                    <a:latin typeface="Times New Roman"/>
                    <a:ea typeface="Times New Roman"/>
                    <a:cs typeface="Times New Roman"/>
                    <a:sym typeface="Times New Roman"/>
                  </a:rPr>
                  <a:t> Mostly supervised methods; significant label scarcity &amp; imbalanced datasets.</a:t>
                </a:r>
                <a:endParaRPr b="0" sz="1890">
                  <a:solidFill>
                    <a:srgbClr val="333333"/>
                  </a:solidFill>
                  <a:latin typeface="Times New Roman"/>
                  <a:ea typeface="Times New Roman"/>
                  <a:cs typeface="Times New Roman"/>
                  <a:sym typeface="Times New Roman"/>
                </a:endParaRPr>
              </a:p>
            </p:txBody>
          </p:sp>
          <p:sp>
            <p:nvSpPr>
              <p:cNvPr id="124" name="Google Shape;124;g3e296112488_0_400"/>
              <p:cNvSpPr txBox="1"/>
              <p:nvPr/>
            </p:nvSpPr>
            <p:spPr>
              <a:xfrm>
                <a:off x="95250" y="136144"/>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380">
                    <a:solidFill>
                      <a:srgbClr val="FF4500"/>
                    </a:solidFill>
                    <a:latin typeface="Material Icons"/>
                    <a:ea typeface="Material Icons"/>
                    <a:cs typeface="Material Icons"/>
                    <a:sym typeface="Material Icons"/>
                  </a:rPr>
                  <a:t>psychology</a:t>
                </a:r>
                <a:endParaRPr sz="2380">
                  <a:solidFill>
                    <a:srgbClr val="FF4500"/>
                  </a:solidFill>
                  <a:latin typeface="Material Icons"/>
                  <a:ea typeface="Material Icons"/>
                  <a:cs typeface="Material Icons"/>
                  <a:sym typeface="Material Icons"/>
                </a:endParaRPr>
              </a:p>
            </p:txBody>
          </p:sp>
        </p:grpSp>
        <p:sp>
          <p:nvSpPr>
            <p:cNvPr id="125" name="Google Shape;125;g3e296112488_0_400"/>
            <p:cNvSpPr txBox="1"/>
            <p:nvPr/>
          </p:nvSpPr>
          <p:spPr>
            <a:xfrm>
              <a:off x="142875" y="3679225"/>
              <a:ext cx="4286400" cy="8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US" sz="1790">
                  <a:solidFill>
                    <a:srgbClr val="333333"/>
                  </a:solidFill>
                  <a:latin typeface="Times New Roman"/>
                  <a:ea typeface="Times New Roman"/>
                  <a:cs typeface="Times New Roman"/>
                  <a:sym typeface="Times New Roman"/>
                </a:rPr>
                <a:t>"Most previous methods rely on supervised learning, but artifact annotations are hard to obtain and highly subjective. Existing methods often learn anatomy instead of artifacts, and synthetic tests don't match real clinical data."</a:t>
              </a:r>
              <a:endParaRPr b="0" i="1" sz="1790">
                <a:solidFill>
                  <a:srgbClr val="333333"/>
                </a:solidFill>
                <a:latin typeface="Times New Roman"/>
                <a:ea typeface="Times New Roman"/>
                <a:cs typeface="Times New Roman"/>
                <a:sym typeface="Times New Roman"/>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e296112488_0_412"/>
          <p:cNvSpPr txBox="1"/>
          <p:nvPr/>
        </p:nvSpPr>
        <p:spPr>
          <a:xfrm>
            <a:off x="147600" y="25"/>
            <a:ext cx="57453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RESEARCH CONTRIBUTION</a:t>
            </a:r>
            <a:endParaRPr b="0" i="0" sz="2700" u="none" cap="none" strike="noStrike">
              <a:solidFill>
                <a:srgbClr val="000000"/>
              </a:solidFill>
              <a:latin typeface="Times New Roman"/>
              <a:ea typeface="Times New Roman"/>
              <a:cs typeface="Times New Roman"/>
              <a:sym typeface="Times New Roman"/>
            </a:endParaRPr>
          </a:p>
        </p:txBody>
      </p:sp>
      <p:sp>
        <p:nvSpPr>
          <p:cNvPr id="131" name="Google Shape;131;g3e296112488_0_412"/>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32" name="Google Shape;132;g3e296112488_0_412"/>
          <p:cNvSpPr/>
          <p:nvPr/>
        </p:nvSpPr>
        <p:spPr>
          <a:xfrm>
            <a:off x="0" y="1060225"/>
            <a:ext cx="9144000" cy="97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g3e296112488_0_412"/>
          <p:cNvSpPr/>
          <p:nvPr/>
        </p:nvSpPr>
        <p:spPr>
          <a:xfrm>
            <a:off x="0" y="1060225"/>
            <a:ext cx="147600" cy="972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g3e296112488_0_412"/>
          <p:cNvSpPr txBox="1"/>
          <p:nvPr/>
        </p:nvSpPr>
        <p:spPr>
          <a:xfrm>
            <a:off x="168000" y="1060225"/>
            <a:ext cx="8879100" cy="103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600"/>
              </a:spcAft>
              <a:buNone/>
            </a:pPr>
            <a:r>
              <a:rPr b="1" lang="en-US" sz="1950">
                <a:solidFill>
                  <a:srgbClr val="FF3200"/>
                </a:solidFill>
                <a:latin typeface="Times New Roman"/>
                <a:ea typeface="Times New Roman"/>
                <a:cs typeface="Times New Roman"/>
                <a:sym typeface="Times New Roman"/>
              </a:rPr>
              <a:t>Objective:</a:t>
            </a:r>
            <a:r>
              <a:rPr lang="en-US" sz="1950">
                <a:solidFill>
                  <a:srgbClr val="FF3200"/>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To systematically evaluate MRI artifact detection across brain and knee MRI using supervised, unsupervised, and self-supervised learning under one unified framework.</a:t>
            </a:r>
            <a:endParaRPr b="1" sz="1800">
              <a:solidFill>
                <a:schemeClr val="dk1"/>
              </a:solidFill>
              <a:latin typeface="Times New Roman"/>
              <a:ea typeface="Times New Roman"/>
              <a:cs typeface="Times New Roman"/>
              <a:sym typeface="Times New Roman"/>
            </a:endParaRPr>
          </a:p>
        </p:txBody>
      </p:sp>
      <p:sp>
        <p:nvSpPr>
          <p:cNvPr id="135" name="Google Shape;135;g3e296112488_0_412"/>
          <p:cNvSpPr/>
          <p:nvPr/>
        </p:nvSpPr>
        <p:spPr>
          <a:xfrm>
            <a:off x="129100" y="2465150"/>
            <a:ext cx="2927100" cy="389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g3e296112488_0_412"/>
          <p:cNvSpPr/>
          <p:nvPr/>
        </p:nvSpPr>
        <p:spPr>
          <a:xfrm>
            <a:off x="3108450" y="2465150"/>
            <a:ext cx="2927100" cy="389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g3e296112488_0_412"/>
          <p:cNvSpPr/>
          <p:nvPr/>
        </p:nvSpPr>
        <p:spPr>
          <a:xfrm>
            <a:off x="6087800" y="2465150"/>
            <a:ext cx="2927100" cy="3891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g3e296112488_0_412"/>
          <p:cNvPicPr preferRelativeResize="0"/>
          <p:nvPr/>
        </p:nvPicPr>
        <p:blipFill>
          <a:blip r:embed="rId3">
            <a:alphaModFix/>
          </a:blip>
          <a:stretch>
            <a:fillRect/>
          </a:stretch>
        </p:blipFill>
        <p:spPr>
          <a:xfrm>
            <a:off x="129100" y="2809850"/>
            <a:ext cx="1389275" cy="1389275"/>
          </a:xfrm>
          <a:prstGeom prst="rect">
            <a:avLst/>
          </a:prstGeom>
          <a:noFill/>
          <a:ln>
            <a:noFill/>
          </a:ln>
        </p:spPr>
      </p:pic>
      <p:pic>
        <p:nvPicPr>
          <p:cNvPr id="139" name="Google Shape;139;g3e296112488_0_412"/>
          <p:cNvPicPr preferRelativeResize="0"/>
          <p:nvPr/>
        </p:nvPicPr>
        <p:blipFill>
          <a:blip r:embed="rId4">
            <a:alphaModFix/>
          </a:blip>
          <a:stretch>
            <a:fillRect/>
          </a:stretch>
        </p:blipFill>
        <p:spPr>
          <a:xfrm>
            <a:off x="1518375" y="2862125"/>
            <a:ext cx="1284724" cy="1284724"/>
          </a:xfrm>
          <a:prstGeom prst="rect">
            <a:avLst/>
          </a:prstGeom>
          <a:noFill/>
          <a:ln>
            <a:noFill/>
          </a:ln>
        </p:spPr>
      </p:pic>
      <p:sp>
        <p:nvSpPr>
          <p:cNvPr id="140" name="Google Shape;140;g3e296112488_0_412"/>
          <p:cNvSpPr txBox="1"/>
          <p:nvPr/>
        </p:nvSpPr>
        <p:spPr>
          <a:xfrm>
            <a:off x="312100" y="4340875"/>
            <a:ext cx="26019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Times New Roman"/>
                <a:ea typeface="Times New Roman"/>
                <a:cs typeface="Times New Roman"/>
                <a:sym typeface="Times New Roman"/>
              </a:rPr>
              <a:t>Anatomy-agnostic formulation</a:t>
            </a:r>
            <a:endParaRPr b="1" sz="2400">
              <a:solidFill>
                <a:schemeClr val="dk1"/>
              </a:solidFill>
              <a:latin typeface="Times New Roman"/>
              <a:ea typeface="Times New Roman"/>
              <a:cs typeface="Times New Roman"/>
              <a:sym typeface="Times New Roman"/>
            </a:endParaRPr>
          </a:p>
        </p:txBody>
      </p:sp>
      <p:sp>
        <p:nvSpPr>
          <p:cNvPr id="141" name="Google Shape;141;g3e296112488_0_412"/>
          <p:cNvSpPr txBox="1"/>
          <p:nvPr/>
        </p:nvSpPr>
        <p:spPr>
          <a:xfrm>
            <a:off x="204450" y="5158675"/>
            <a:ext cx="2601900" cy="6771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90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Cross-anatomy setup: brain + knee</a:t>
            </a:r>
            <a:endParaRPr b="1" sz="1600">
              <a:solidFill>
                <a:schemeClr val="dk1"/>
              </a:solidFill>
              <a:latin typeface="Times New Roman"/>
              <a:ea typeface="Times New Roman"/>
              <a:cs typeface="Times New Roman"/>
              <a:sym typeface="Times New Roman"/>
            </a:endParaRPr>
          </a:p>
        </p:txBody>
      </p:sp>
      <p:pic>
        <p:nvPicPr>
          <p:cNvPr id="142" name="Google Shape;142;g3e296112488_0_412"/>
          <p:cNvPicPr preferRelativeResize="0"/>
          <p:nvPr/>
        </p:nvPicPr>
        <p:blipFill>
          <a:blip r:embed="rId5">
            <a:alphaModFix/>
          </a:blip>
          <a:stretch>
            <a:fillRect/>
          </a:stretch>
        </p:blipFill>
        <p:spPr>
          <a:xfrm>
            <a:off x="3286063" y="2809848"/>
            <a:ext cx="1389275" cy="1389275"/>
          </a:xfrm>
          <a:prstGeom prst="rect">
            <a:avLst/>
          </a:prstGeom>
          <a:noFill/>
          <a:ln>
            <a:noFill/>
          </a:ln>
        </p:spPr>
      </p:pic>
      <p:pic>
        <p:nvPicPr>
          <p:cNvPr id="143" name="Google Shape;143;g3e296112488_0_412"/>
          <p:cNvPicPr preferRelativeResize="0"/>
          <p:nvPr/>
        </p:nvPicPr>
        <p:blipFill>
          <a:blip r:embed="rId6">
            <a:alphaModFix/>
          </a:blip>
          <a:stretch>
            <a:fillRect/>
          </a:stretch>
        </p:blipFill>
        <p:spPr>
          <a:xfrm>
            <a:off x="4573212" y="2914400"/>
            <a:ext cx="1284724" cy="1284724"/>
          </a:xfrm>
          <a:prstGeom prst="rect">
            <a:avLst/>
          </a:prstGeom>
          <a:noFill/>
          <a:ln>
            <a:noFill/>
          </a:ln>
        </p:spPr>
      </p:pic>
      <p:sp>
        <p:nvSpPr>
          <p:cNvPr id="144" name="Google Shape;144;g3e296112488_0_412"/>
          <p:cNvSpPr txBox="1"/>
          <p:nvPr/>
        </p:nvSpPr>
        <p:spPr>
          <a:xfrm>
            <a:off x="3144000" y="4340875"/>
            <a:ext cx="2927100" cy="554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500"/>
              </a:spcBef>
              <a:spcAft>
                <a:spcPts val="900"/>
              </a:spcAft>
              <a:buNone/>
            </a:pPr>
            <a:r>
              <a:rPr b="1" lang="en-US" sz="2400">
                <a:solidFill>
                  <a:schemeClr val="dk1"/>
                </a:solidFill>
                <a:latin typeface="Times New Roman"/>
                <a:ea typeface="Times New Roman"/>
                <a:cs typeface="Times New Roman"/>
                <a:sym typeface="Times New Roman"/>
              </a:rPr>
              <a:t>Benchmark Dataset</a:t>
            </a:r>
            <a:endParaRPr b="1" sz="2400">
              <a:solidFill>
                <a:schemeClr val="dk1"/>
              </a:solidFill>
              <a:latin typeface="Times New Roman"/>
              <a:ea typeface="Times New Roman"/>
              <a:cs typeface="Times New Roman"/>
              <a:sym typeface="Times New Roman"/>
            </a:endParaRPr>
          </a:p>
        </p:txBody>
      </p:sp>
      <p:sp>
        <p:nvSpPr>
          <p:cNvPr id="145" name="Google Shape;145;g3e296112488_0_412"/>
          <p:cNvSpPr txBox="1"/>
          <p:nvPr/>
        </p:nvSpPr>
        <p:spPr>
          <a:xfrm>
            <a:off x="3071988" y="4894975"/>
            <a:ext cx="3000000" cy="14547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Unified evaluation benchmark </a:t>
            </a:r>
            <a:endParaRPr b="1" sz="1600">
              <a:solidFill>
                <a:schemeClr val="dk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Realistic cross-dataset/domain shift</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900"/>
              </a:spcBef>
              <a:spcAft>
                <a:spcPts val="0"/>
              </a:spcAft>
              <a:buNone/>
            </a:pPr>
            <a:r>
              <a:t/>
            </a:r>
            <a:endParaRPr sz="1100">
              <a:solidFill>
                <a:schemeClr val="dk1"/>
              </a:solidFill>
            </a:endParaRPr>
          </a:p>
        </p:txBody>
      </p:sp>
      <p:pic>
        <p:nvPicPr>
          <p:cNvPr id="146" name="Google Shape;146;g3e296112488_0_412"/>
          <p:cNvPicPr preferRelativeResize="0"/>
          <p:nvPr/>
        </p:nvPicPr>
        <p:blipFill>
          <a:blip r:embed="rId7">
            <a:alphaModFix/>
          </a:blip>
          <a:stretch>
            <a:fillRect/>
          </a:stretch>
        </p:blipFill>
        <p:spPr>
          <a:xfrm>
            <a:off x="6280400" y="2786638"/>
            <a:ext cx="1284724" cy="1284724"/>
          </a:xfrm>
          <a:prstGeom prst="rect">
            <a:avLst/>
          </a:prstGeom>
          <a:noFill/>
          <a:ln>
            <a:noFill/>
          </a:ln>
        </p:spPr>
      </p:pic>
      <p:pic>
        <p:nvPicPr>
          <p:cNvPr id="147" name="Google Shape;147;g3e296112488_0_412"/>
          <p:cNvPicPr preferRelativeResize="0"/>
          <p:nvPr/>
        </p:nvPicPr>
        <p:blipFill>
          <a:blip r:embed="rId8">
            <a:alphaModFix/>
          </a:blip>
          <a:stretch>
            <a:fillRect/>
          </a:stretch>
        </p:blipFill>
        <p:spPr>
          <a:xfrm>
            <a:off x="7625625" y="2786638"/>
            <a:ext cx="1284724" cy="1284724"/>
          </a:xfrm>
          <a:prstGeom prst="rect">
            <a:avLst/>
          </a:prstGeom>
          <a:noFill/>
          <a:ln>
            <a:noFill/>
          </a:ln>
        </p:spPr>
      </p:pic>
      <p:sp>
        <p:nvSpPr>
          <p:cNvPr id="148" name="Google Shape;148;g3e296112488_0_412"/>
          <p:cNvSpPr txBox="1"/>
          <p:nvPr/>
        </p:nvSpPr>
        <p:spPr>
          <a:xfrm>
            <a:off x="6195450" y="4340875"/>
            <a:ext cx="2601900" cy="8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Times New Roman"/>
                <a:ea typeface="Times New Roman"/>
                <a:cs typeface="Times New Roman"/>
                <a:sym typeface="Times New Roman"/>
              </a:rPr>
              <a:t>Comparative Analysis</a:t>
            </a:r>
            <a:endParaRPr b="1" sz="2400">
              <a:solidFill>
                <a:schemeClr val="dk1"/>
              </a:solidFill>
              <a:latin typeface="Times New Roman"/>
              <a:ea typeface="Times New Roman"/>
              <a:cs typeface="Times New Roman"/>
              <a:sym typeface="Times New Roman"/>
            </a:endParaRPr>
          </a:p>
        </p:txBody>
      </p:sp>
      <p:sp>
        <p:nvSpPr>
          <p:cNvPr id="149" name="Google Shape;149;g3e296112488_0_412"/>
          <p:cNvSpPr txBox="1"/>
          <p:nvPr/>
        </p:nvSpPr>
        <p:spPr>
          <a:xfrm>
            <a:off x="5972150" y="5178475"/>
            <a:ext cx="3158400" cy="1169700"/>
          </a:xfrm>
          <a:prstGeom prst="rect">
            <a:avLst/>
          </a:prstGeom>
          <a:noFill/>
          <a:ln>
            <a:noFill/>
          </a:ln>
        </p:spPr>
        <p:txBody>
          <a:bodyPr anchorCtr="0" anchor="t" bIns="91425" lIns="91425" spcFirstLastPara="1" rIns="91425" wrap="square" tIns="91425">
            <a:spAutoFit/>
          </a:bodyPr>
          <a:lstStyle/>
          <a:p>
            <a:pPr indent="-330200" lvl="0" marL="457200" rtl="0" algn="l">
              <a:lnSpc>
                <a:spcPct val="100000"/>
              </a:lnSpc>
              <a:spcBef>
                <a:spcPts val="90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Supervised vs unsupervised vs self-supervised</a:t>
            </a:r>
            <a:endParaRPr b="1" sz="1600">
              <a:solidFill>
                <a:schemeClr val="dk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dk1"/>
              </a:buClr>
              <a:buSzPts val="1600"/>
              <a:buFont typeface="Times New Roman"/>
              <a:buChar char="●"/>
            </a:pPr>
            <a:r>
              <a:rPr b="1" lang="en-US" sz="1600">
                <a:solidFill>
                  <a:schemeClr val="dk1"/>
                </a:solidFill>
                <a:latin typeface="Times New Roman"/>
                <a:ea typeface="Times New Roman"/>
                <a:cs typeface="Times New Roman"/>
                <a:sym typeface="Times New Roman"/>
              </a:rPr>
              <a:t>Cross-anatomy  generalization analysis</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e296112488_0_418"/>
          <p:cNvSpPr txBox="1"/>
          <p:nvPr/>
        </p:nvSpPr>
        <p:spPr>
          <a:xfrm>
            <a:off x="147600" y="25"/>
            <a:ext cx="57453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DATASET OVERVIEW</a:t>
            </a:r>
            <a:endParaRPr b="0" i="0" sz="2700" u="none" cap="none" strike="noStrike">
              <a:solidFill>
                <a:srgbClr val="000000"/>
              </a:solidFill>
              <a:latin typeface="Times New Roman"/>
              <a:ea typeface="Times New Roman"/>
              <a:cs typeface="Times New Roman"/>
              <a:sym typeface="Times New Roman"/>
            </a:endParaRPr>
          </a:p>
        </p:txBody>
      </p:sp>
      <p:sp>
        <p:nvSpPr>
          <p:cNvPr id="155" name="Google Shape;155;g3e296112488_0_41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graphicFrame>
        <p:nvGraphicFramePr>
          <p:cNvPr id="156" name="Google Shape;156;g3e296112488_0_418"/>
          <p:cNvGraphicFramePr/>
          <p:nvPr/>
        </p:nvGraphicFramePr>
        <p:xfrm>
          <a:off x="0" y="2556925"/>
          <a:ext cx="3000000" cy="3000000"/>
        </p:xfrm>
        <a:graphic>
          <a:graphicData uri="http://schemas.openxmlformats.org/drawingml/2006/table">
            <a:tbl>
              <a:tblPr>
                <a:noFill/>
                <a:tableStyleId>{BBFFD9F1-3956-4394-8E4F-CE18DC0DF6D3}</a:tableStyleId>
              </a:tblPr>
              <a:tblGrid>
                <a:gridCol w="1148175"/>
                <a:gridCol w="1037525"/>
                <a:gridCol w="1480175"/>
                <a:gridCol w="1563200"/>
                <a:gridCol w="1134350"/>
                <a:gridCol w="1162025"/>
                <a:gridCol w="1618550"/>
              </a:tblGrid>
              <a:tr h="285750">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Dataset</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Anatomy</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Scans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Clean/Artifact</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Sequences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Field Strength</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Manufacturers</a:t>
                      </a:r>
                      <a:endParaRPr b="1" sz="1700">
                        <a:latin typeface="Times New Roman"/>
                        <a:ea typeface="Times New Roman"/>
                        <a:cs typeface="Times New Roman"/>
                        <a:sym typeface="Times New Roman"/>
                      </a:endParaRPr>
                    </a:p>
                  </a:txBody>
                  <a:tcPr marT="91425" marB="91425" marR="68575" marL="685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r>
              <a:tr h="142875">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IXI</a:t>
                      </a:r>
                      <a:endParaRPr b="1"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Brain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~600</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Clean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T1, T2</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1.5T, 3T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Philips, GE</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276225">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FastMRI</a:t>
                      </a:r>
                      <a:endParaRPr b="1"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Knee</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  200</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Clean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PD, PD-FS, T2-FS</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1.5T, 3T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Siemens</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133350">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MR-ART</a:t>
                      </a:r>
                      <a:endParaRPr b="1"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Brain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~445</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Artifact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T1</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3T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Siemens</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276225">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KMAR-50K</a:t>
                      </a:r>
                      <a:endParaRPr b="1"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Knee</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1,444 (paired)</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Artifact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PD, T1, T2 (TSE/FSE)</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1.5T, 3T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Siemens, Alltech</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r h="276225">
                <a:tc>
                  <a:txBody>
                    <a:bodyPr/>
                    <a:lstStyle/>
                    <a:p>
                      <a:pPr indent="0" lvl="0" marL="0" rtl="0" algn="just">
                        <a:lnSpc>
                          <a:spcPct val="107000"/>
                        </a:lnSpc>
                        <a:spcBef>
                          <a:spcPts val="0"/>
                        </a:spcBef>
                        <a:spcAft>
                          <a:spcPts val="0"/>
                        </a:spcAft>
                        <a:buNone/>
                      </a:pPr>
                      <a:r>
                        <a:rPr b="1" lang="en-US" sz="1700">
                          <a:latin typeface="Times New Roman"/>
                          <a:ea typeface="Times New Roman"/>
                          <a:cs typeface="Times New Roman"/>
                          <a:sym typeface="Times New Roman"/>
                        </a:rPr>
                        <a:t>Simulated</a:t>
                      </a:r>
                      <a:endParaRPr b="1"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Brain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3913</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Artifact</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Unknown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Unknown</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rtl="0" algn="just">
                        <a:lnSpc>
                          <a:spcPct val="107000"/>
                        </a:lnSpc>
                        <a:spcBef>
                          <a:spcPts val="0"/>
                        </a:spcBef>
                        <a:spcAft>
                          <a:spcPts val="0"/>
                        </a:spcAft>
                        <a:buNone/>
                      </a:pPr>
                      <a:r>
                        <a:rPr lang="en-US" sz="1700">
                          <a:latin typeface="Times New Roman"/>
                          <a:ea typeface="Times New Roman"/>
                          <a:cs typeface="Times New Roman"/>
                          <a:sym typeface="Times New Roman"/>
                        </a:rPr>
                        <a:t>N/A</a:t>
                      </a:r>
                      <a:endParaRPr sz="1700">
                        <a:latin typeface="Times New Roman"/>
                        <a:ea typeface="Times New Roman"/>
                        <a:cs typeface="Times New Roman"/>
                        <a:sym typeface="Times New Roman"/>
                      </a:endParaRPr>
                    </a:p>
                  </a:txBody>
                  <a:tcPr marT="91425" marB="914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bl>
          </a:graphicData>
        </a:graphic>
      </p:graphicFrame>
      <p:sp>
        <p:nvSpPr>
          <p:cNvPr id="157" name="Google Shape;157;g3e296112488_0_418"/>
          <p:cNvSpPr txBox="1"/>
          <p:nvPr/>
        </p:nvSpPr>
        <p:spPr>
          <a:xfrm>
            <a:off x="0" y="1730750"/>
            <a:ext cx="8581200" cy="673800"/>
          </a:xfrm>
          <a:prstGeom prst="rect">
            <a:avLst/>
          </a:prstGeom>
          <a:noFill/>
          <a:ln>
            <a:noFill/>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None/>
            </a:pPr>
            <a:r>
              <a:rPr b="1" lang="en-US" sz="1900">
                <a:latin typeface="Times New Roman"/>
                <a:ea typeface="Times New Roman"/>
                <a:cs typeface="Times New Roman"/>
                <a:sym typeface="Times New Roman"/>
              </a:rPr>
              <a:t>Table 1:</a:t>
            </a:r>
            <a:r>
              <a:rPr lang="en-US" sz="1900">
                <a:latin typeface="Times New Roman"/>
                <a:ea typeface="Times New Roman"/>
                <a:cs typeface="Times New Roman"/>
                <a:sym typeface="Times New Roman"/>
              </a:rPr>
              <a:t> Summary of datasets used in this study, highlighting variations in anatomy, acquisition settings, and availability of artifact annotations.</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e296112488_0_483"/>
          <p:cNvSpPr txBox="1"/>
          <p:nvPr/>
        </p:nvSpPr>
        <p:spPr>
          <a:xfrm>
            <a:off x="147600" y="25"/>
            <a:ext cx="57453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TRAINING PIPELINE</a:t>
            </a:r>
            <a:endParaRPr b="0" i="0" sz="2700" u="none" cap="none" strike="noStrike">
              <a:solidFill>
                <a:srgbClr val="000000"/>
              </a:solidFill>
              <a:latin typeface="Times New Roman"/>
              <a:ea typeface="Times New Roman"/>
              <a:cs typeface="Times New Roman"/>
              <a:sym typeface="Times New Roman"/>
            </a:endParaRPr>
          </a:p>
        </p:txBody>
      </p:sp>
      <p:sp>
        <p:nvSpPr>
          <p:cNvPr id="163" name="Google Shape;163;g3e296112488_0_483"/>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pic>
        <p:nvPicPr>
          <p:cNvPr id="164" name="Google Shape;164;g3e296112488_0_483"/>
          <p:cNvPicPr preferRelativeResize="0"/>
          <p:nvPr/>
        </p:nvPicPr>
        <p:blipFill>
          <a:blip r:embed="rId3">
            <a:alphaModFix/>
          </a:blip>
          <a:stretch>
            <a:fillRect/>
          </a:stretch>
        </p:blipFill>
        <p:spPr>
          <a:xfrm>
            <a:off x="152400" y="1268800"/>
            <a:ext cx="8839201" cy="48253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e296112488_0_489"/>
          <p:cNvSpPr txBox="1"/>
          <p:nvPr/>
        </p:nvSpPr>
        <p:spPr>
          <a:xfrm>
            <a:off x="147600" y="25"/>
            <a:ext cx="70851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OVERALL QUANTITATIVE RESULTS</a:t>
            </a:r>
            <a:endParaRPr b="0" i="0" sz="2700" u="none" cap="none" strike="noStrike">
              <a:solidFill>
                <a:srgbClr val="000000"/>
              </a:solidFill>
              <a:latin typeface="Times New Roman"/>
              <a:ea typeface="Times New Roman"/>
              <a:cs typeface="Times New Roman"/>
              <a:sym typeface="Times New Roman"/>
            </a:endParaRPr>
          </a:p>
        </p:txBody>
      </p:sp>
      <p:sp>
        <p:nvSpPr>
          <p:cNvPr id="170" name="Google Shape;170;g3e296112488_0_489"/>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pic>
        <p:nvPicPr>
          <p:cNvPr id="171" name="Google Shape;171;g3e296112488_0_489"/>
          <p:cNvPicPr preferRelativeResize="0"/>
          <p:nvPr/>
        </p:nvPicPr>
        <p:blipFill>
          <a:blip r:embed="rId3">
            <a:alphaModFix/>
          </a:blip>
          <a:stretch>
            <a:fillRect/>
          </a:stretch>
        </p:blipFill>
        <p:spPr>
          <a:xfrm>
            <a:off x="147600" y="1862100"/>
            <a:ext cx="7561975" cy="4802850"/>
          </a:xfrm>
          <a:prstGeom prst="rect">
            <a:avLst/>
          </a:prstGeom>
          <a:noFill/>
          <a:ln>
            <a:noFill/>
          </a:ln>
        </p:spPr>
      </p:pic>
      <p:pic>
        <p:nvPicPr>
          <p:cNvPr id="172" name="Google Shape;172;g3e296112488_0_489"/>
          <p:cNvPicPr preferRelativeResize="0"/>
          <p:nvPr/>
        </p:nvPicPr>
        <p:blipFill>
          <a:blip r:embed="rId4">
            <a:alphaModFix/>
          </a:blip>
          <a:stretch>
            <a:fillRect/>
          </a:stretch>
        </p:blipFill>
        <p:spPr>
          <a:xfrm>
            <a:off x="6479450" y="1109125"/>
            <a:ext cx="2484950" cy="1341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e296112488_0_500"/>
          <p:cNvSpPr txBox="1"/>
          <p:nvPr/>
        </p:nvSpPr>
        <p:spPr>
          <a:xfrm>
            <a:off x="147600" y="25"/>
            <a:ext cx="66129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OVERALL QUANTITATIVE RESULTS</a:t>
            </a:r>
            <a:endParaRPr b="0" i="0" sz="2700" u="none" cap="none" strike="noStrike">
              <a:solidFill>
                <a:srgbClr val="000000"/>
              </a:solidFill>
              <a:latin typeface="Times New Roman"/>
              <a:ea typeface="Times New Roman"/>
              <a:cs typeface="Times New Roman"/>
              <a:sym typeface="Times New Roman"/>
            </a:endParaRPr>
          </a:p>
        </p:txBody>
      </p:sp>
      <p:sp>
        <p:nvSpPr>
          <p:cNvPr id="178" name="Google Shape;178;g3e296112488_0_50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79" name="Google Shape;179;g3e296112488_0_500"/>
          <p:cNvSpPr txBox="1"/>
          <p:nvPr/>
        </p:nvSpPr>
        <p:spPr>
          <a:xfrm>
            <a:off x="4750" y="1049475"/>
            <a:ext cx="8581200" cy="673800"/>
          </a:xfrm>
          <a:prstGeom prst="rect">
            <a:avLst/>
          </a:prstGeom>
          <a:noFill/>
          <a:ln>
            <a:noFill/>
          </a:ln>
        </p:spPr>
        <p:txBody>
          <a:bodyPr anchorCtr="0" anchor="ctr" bIns="91425" lIns="91425" spcFirstLastPara="1" rIns="91425" wrap="square" tIns="91425">
            <a:noAutofit/>
          </a:bodyPr>
          <a:lstStyle/>
          <a:p>
            <a:pPr indent="0" lvl="0" marL="0" rtl="0" algn="just">
              <a:lnSpc>
                <a:spcPct val="100000"/>
              </a:lnSpc>
              <a:spcBef>
                <a:spcPts val="0"/>
              </a:spcBef>
              <a:spcAft>
                <a:spcPts val="0"/>
              </a:spcAft>
              <a:buNone/>
            </a:pPr>
            <a:r>
              <a:rPr b="1" lang="en-US" sz="1900">
                <a:latin typeface="Times New Roman"/>
                <a:ea typeface="Times New Roman"/>
                <a:cs typeface="Times New Roman"/>
                <a:sym typeface="Times New Roman"/>
              </a:rPr>
              <a:t>Table 1:</a:t>
            </a:r>
            <a:r>
              <a:rPr lang="en-US" sz="1900">
                <a:latin typeface="Times New Roman"/>
                <a:ea typeface="Times New Roman"/>
                <a:cs typeface="Times New Roman"/>
                <a:sym typeface="Times New Roman"/>
              </a:rPr>
              <a:t> Summary of datasets used in this study, highlighting variations in anatomy, acquisition settings, and availability of artifact annotations.</a:t>
            </a:r>
            <a:endParaRPr sz="1800">
              <a:latin typeface="Times New Roman"/>
              <a:ea typeface="Times New Roman"/>
              <a:cs typeface="Times New Roman"/>
              <a:sym typeface="Times New Roman"/>
            </a:endParaRPr>
          </a:p>
        </p:txBody>
      </p:sp>
      <p:graphicFrame>
        <p:nvGraphicFramePr>
          <p:cNvPr id="180" name="Google Shape;180;g3e296112488_0_500"/>
          <p:cNvGraphicFramePr/>
          <p:nvPr/>
        </p:nvGraphicFramePr>
        <p:xfrm>
          <a:off x="4750" y="1854450"/>
          <a:ext cx="3000000" cy="3000000"/>
        </p:xfrm>
        <a:graphic>
          <a:graphicData uri="http://schemas.openxmlformats.org/drawingml/2006/table">
            <a:tbl>
              <a:tblPr>
                <a:noFill/>
                <a:tableStyleId>{BBFFD9F1-3956-4394-8E4F-CE18DC0DF6D3}</a:tableStyleId>
              </a:tblPr>
              <a:tblGrid>
                <a:gridCol w="1400175"/>
                <a:gridCol w="1781175"/>
                <a:gridCol w="1647825"/>
                <a:gridCol w="1666875"/>
                <a:gridCol w="2638425"/>
              </a:tblGrid>
              <a:tr h="342900">
                <a:tc>
                  <a:txBody>
                    <a:bodyPr/>
                    <a:lstStyle/>
                    <a:p>
                      <a:pPr indent="0" lvl="0" marL="0" rtl="0" algn="l">
                        <a:lnSpc>
                          <a:spcPct val="115000"/>
                        </a:lnSpc>
                        <a:spcBef>
                          <a:spcPts val="0"/>
                        </a:spcBef>
                        <a:spcAft>
                          <a:spcPts val="0"/>
                        </a:spcAft>
                        <a:buNone/>
                      </a:pPr>
                      <a:r>
                        <a:rPr b="1" lang="en-US" sz="1200"/>
                        <a:t>Method</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US" sz="1200"/>
                        <a:t>Best MR-ART AUROC</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US" sz="1200"/>
                        <a:t>Best KMAR AUROC</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US" sz="1200"/>
                        <a:t>Best Training Variant</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c>
                  <a:txBody>
                    <a:bodyPr/>
                    <a:lstStyle/>
                    <a:p>
                      <a:pPr indent="0" lvl="0" marL="0" rtl="0" algn="l">
                        <a:lnSpc>
                          <a:spcPct val="115000"/>
                        </a:lnSpc>
                        <a:spcBef>
                          <a:spcPts val="0"/>
                        </a:spcBef>
                        <a:spcAft>
                          <a:spcPts val="0"/>
                        </a:spcAft>
                        <a:buNone/>
                      </a:pPr>
                      <a:r>
                        <a:rPr b="1" lang="en-US" sz="1200"/>
                        <a:t>Takeaway</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2"/>
                    </a:solidFill>
                  </a:tcPr>
                </a:tc>
              </a:tr>
              <a:tr h="342900">
                <a:tc>
                  <a:txBody>
                    <a:bodyPr/>
                    <a:lstStyle/>
                    <a:p>
                      <a:pPr indent="0" lvl="0" marL="0" rtl="0" algn="l">
                        <a:lnSpc>
                          <a:spcPct val="115000"/>
                        </a:lnSpc>
                        <a:spcBef>
                          <a:spcPts val="0"/>
                        </a:spcBef>
                        <a:spcAft>
                          <a:spcPts val="0"/>
                        </a:spcAft>
                        <a:buNone/>
                      </a:pPr>
                      <a:r>
                        <a:rPr lang="en-US" sz="1200"/>
                        <a:t>Supervised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0.505</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0.503</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 / 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Near chance</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SimCLR (kNN)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0.569</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0.502</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Slight gain on MR-ART only</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MAE (kNN)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0.454</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0.512</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Weak overall</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MAE (Recon)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0.467</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0.485</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 / Knee</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Good on synthetic, weak on real</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DINO (kNN)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0.568</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0.499</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Combined / 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Good on MR-ART, unstable on KMAR</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DAE (kNN)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0.444</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0.500</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 / 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Near chance</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DAE (Recon)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0.517</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0.494</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Slightly above chance only</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PatchCore (Patch)</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0.515</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0.473</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Weak overall</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lang="en-US" sz="1200"/>
                        <a:t>PatchCore (kNN)</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0.673</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0.528</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Brain / Combined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200"/>
                        <a:t>Best real-artifact method</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e2b354850a_0_666"/>
          <p:cNvSpPr txBox="1"/>
          <p:nvPr/>
        </p:nvSpPr>
        <p:spPr>
          <a:xfrm>
            <a:off x="147600" y="25"/>
            <a:ext cx="52797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KEY FINDINGS/DISCUSSION</a:t>
            </a:r>
            <a:endParaRPr b="0" i="0" sz="2700" u="none" cap="none" strike="noStrike">
              <a:solidFill>
                <a:srgbClr val="000000"/>
              </a:solidFill>
              <a:latin typeface="Times New Roman"/>
              <a:ea typeface="Times New Roman"/>
              <a:cs typeface="Times New Roman"/>
              <a:sym typeface="Times New Roman"/>
            </a:endParaRPr>
          </a:p>
        </p:txBody>
      </p:sp>
      <p:sp>
        <p:nvSpPr>
          <p:cNvPr id="186" name="Google Shape;186;g3e2b354850a_0_666"/>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grpSp>
        <p:nvGrpSpPr>
          <p:cNvPr id="187" name="Google Shape;187;g3e2b354850a_0_666"/>
          <p:cNvGrpSpPr/>
          <p:nvPr/>
        </p:nvGrpSpPr>
        <p:grpSpPr>
          <a:xfrm>
            <a:off x="285750" y="1320250"/>
            <a:ext cx="2667000" cy="1619100"/>
            <a:chOff x="0" y="0"/>
            <a:chExt cx="2667000" cy="1619100"/>
          </a:xfrm>
        </p:grpSpPr>
        <p:sp>
          <p:nvSpPr>
            <p:cNvPr id="188" name="Google Shape;188;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g3e2b354850a_0_666"/>
            <p:cNvSpPr/>
            <p:nvPr/>
          </p:nvSpPr>
          <p:spPr>
            <a:xfrm>
              <a:off x="95250" y="95250"/>
              <a:ext cx="381000" cy="190500"/>
            </a:xfrm>
            <a:prstGeom prst="roundRect">
              <a:avLst>
                <a:gd fmla="val 20000" name="adj"/>
              </a:avLst>
            </a:prstGeom>
            <a:solidFill>
              <a:srgbClr val="44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F1</a:t>
              </a:r>
              <a:endParaRPr b="1" sz="1000">
                <a:solidFill>
                  <a:srgbClr val="FFFFFF"/>
                </a:solidFill>
                <a:latin typeface="Times New Roman"/>
                <a:ea typeface="Times New Roman"/>
                <a:cs typeface="Times New Roman"/>
                <a:sym typeface="Times New Roman"/>
              </a:endParaRPr>
            </a:p>
          </p:txBody>
        </p:sp>
        <p:sp>
          <p:nvSpPr>
            <p:cNvPr id="191" name="Google Shape;191;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Source-Domain Confound</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ResNet-18 classifies dataset source instead of artifact presence due to acquisition differences between IXI/FastMRI and MR-ART/KMAR.</a:t>
              </a:r>
              <a:endParaRPr sz="1164">
                <a:solidFill>
                  <a:srgbClr val="333333"/>
                </a:solidFill>
                <a:latin typeface="Times New Roman"/>
                <a:ea typeface="Times New Roman"/>
                <a:cs typeface="Times New Roman"/>
                <a:sym typeface="Times New Roman"/>
              </a:endParaRPr>
            </a:p>
          </p:txBody>
        </p:sp>
      </p:grpSp>
      <p:grpSp>
        <p:nvGrpSpPr>
          <p:cNvPr id="192" name="Google Shape;192;g3e2b354850a_0_666"/>
          <p:cNvGrpSpPr/>
          <p:nvPr/>
        </p:nvGrpSpPr>
        <p:grpSpPr>
          <a:xfrm>
            <a:off x="3238500" y="1320250"/>
            <a:ext cx="2667000" cy="1619100"/>
            <a:chOff x="0" y="0"/>
            <a:chExt cx="2667000" cy="1619100"/>
          </a:xfrm>
        </p:grpSpPr>
        <p:sp>
          <p:nvSpPr>
            <p:cNvPr id="193" name="Google Shape;193;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g3e2b354850a_0_666"/>
            <p:cNvSpPr/>
            <p:nvPr/>
          </p:nvSpPr>
          <p:spPr>
            <a:xfrm>
              <a:off x="95250" y="95250"/>
              <a:ext cx="381000" cy="190500"/>
            </a:xfrm>
            <a:prstGeom prst="roundRect">
              <a:avLst>
                <a:gd fmla="val 20000" name="adj"/>
              </a:avLst>
            </a:prstGeom>
            <a:solidFill>
              <a:srgbClr val="07169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F2</a:t>
              </a:r>
              <a:endParaRPr b="1" sz="1000">
                <a:solidFill>
                  <a:srgbClr val="FFFFFF"/>
                </a:solidFill>
                <a:latin typeface="Times New Roman"/>
                <a:ea typeface="Times New Roman"/>
                <a:cs typeface="Times New Roman"/>
                <a:sym typeface="Times New Roman"/>
              </a:endParaRPr>
            </a:p>
          </p:txBody>
        </p:sp>
        <p:sp>
          <p:nvSpPr>
            <p:cNvPr id="196" name="Google Shape;196;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PatchCore-kNN Superiority</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Most competitive with </a:t>
              </a:r>
              <a:r>
                <a:rPr b="1" lang="en-US" sz="1164">
                  <a:solidFill>
                    <a:srgbClr val="333333"/>
                  </a:solidFill>
                  <a:latin typeface="Times New Roman"/>
                  <a:ea typeface="Times New Roman"/>
                  <a:cs typeface="Times New Roman"/>
                  <a:sym typeface="Times New Roman"/>
                </a:rPr>
                <a:t>0.673 AUROC</a:t>
              </a:r>
              <a:r>
                <a:rPr lang="en-US" sz="1164">
                  <a:solidFill>
                    <a:srgbClr val="333333"/>
                  </a:solidFill>
                  <a:latin typeface="Times New Roman"/>
                  <a:ea typeface="Times New Roman"/>
                  <a:cs typeface="Times New Roman"/>
                  <a:sym typeface="Times New Roman"/>
                </a:rPr>
                <a:t> on brain MR-ART. Avoids domain contamination by using frozen ImageNet backbone.</a:t>
              </a:r>
              <a:endParaRPr sz="1164">
                <a:solidFill>
                  <a:srgbClr val="333333"/>
                </a:solidFill>
                <a:latin typeface="Times New Roman"/>
                <a:ea typeface="Times New Roman"/>
                <a:cs typeface="Times New Roman"/>
                <a:sym typeface="Times New Roman"/>
              </a:endParaRPr>
            </a:p>
          </p:txBody>
        </p:sp>
      </p:grpSp>
      <p:grpSp>
        <p:nvGrpSpPr>
          <p:cNvPr id="197" name="Google Shape;197;g3e2b354850a_0_666"/>
          <p:cNvGrpSpPr/>
          <p:nvPr/>
        </p:nvGrpSpPr>
        <p:grpSpPr>
          <a:xfrm>
            <a:off x="6191250" y="1320250"/>
            <a:ext cx="2667000" cy="1619100"/>
            <a:chOff x="0" y="0"/>
            <a:chExt cx="2667000" cy="1619100"/>
          </a:xfrm>
        </p:grpSpPr>
        <p:sp>
          <p:nvSpPr>
            <p:cNvPr id="198" name="Google Shape;198;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g3e2b354850a_0_666"/>
            <p:cNvSpPr/>
            <p:nvPr/>
          </p:nvSpPr>
          <p:spPr>
            <a:xfrm>
              <a:off x="95250" y="95250"/>
              <a:ext cx="381000" cy="190500"/>
            </a:xfrm>
            <a:prstGeom prst="roundRect">
              <a:avLst>
                <a:gd fmla="val 20000" name="adj"/>
              </a:avLst>
            </a:prstGeom>
            <a:solidFill>
              <a:srgbClr val="44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F3</a:t>
              </a:r>
              <a:endParaRPr b="1" sz="1000">
                <a:solidFill>
                  <a:srgbClr val="FFFFFF"/>
                </a:solidFill>
                <a:latin typeface="Times New Roman"/>
                <a:ea typeface="Times New Roman"/>
                <a:cs typeface="Times New Roman"/>
                <a:sym typeface="Times New Roman"/>
              </a:endParaRPr>
            </a:p>
          </p:txBody>
        </p:sp>
        <p:sp>
          <p:nvSpPr>
            <p:cNvPr id="201" name="Google Shape;201;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Self-Distillation Collapse</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DINO collapses on narrow, brain-only corpora. Requires multi-anatomy training or stronger augmentation to maintain feature rank.</a:t>
              </a:r>
              <a:endParaRPr sz="1164">
                <a:solidFill>
                  <a:srgbClr val="333333"/>
                </a:solidFill>
                <a:latin typeface="Times New Roman"/>
                <a:ea typeface="Times New Roman"/>
                <a:cs typeface="Times New Roman"/>
                <a:sym typeface="Times New Roman"/>
              </a:endParaRPr>
            </a:p>
          </p:txBody>
        </p:sp>
      </p:grpSp>
      <p:grpSp>
        <p:nvGrpSpPr>
          <p:cNvPr id="202" name="Google Shape;202;g3e2b354850a_0_666"/>
          <p:cNvGrpSpPr/>
          <p:nvPr/>
        </p:nvGrpSpPr>
        <p:grpSpPr>
          <a:xfrm>
            <a:off x="285750" y="3130000"/>
            <a:ext cx="2667000" cy="1619100"/>
            <a:chOff x="0" y="0"/>
            <a:chExt cx="2667000" cy="1619100"/>
          </a:xfrm>
        </p:grpSpPr>
        <p:sp>
          <p:nvSpPr>
            <p:cNvPr id="203" name="Google Shape;203;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g3e2b354850a_0_666"/>
            <p:cNvSpPr/>
            <p:nvPr/>
          </p:nvSpPr>
          <p:spPr>
            <a:xfrm>
              <a:off x="95250" y="95250"/>
              <a:ext cx="381000" cy="190500"/>
            </a:xfrm>
            <a:prstGeom prst="roundRect">
              <a:avLst>
                <a:gd fmla="val 20000" name="adj"/>
              </a:avLst>
            </a:prstGeom>
            <a:solidFill>
              <a:srgbClr val="44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F4</a:t>
              </a:r>
              <a:endParaRPr b="1" sz="1000">
                <a:solidFill>
                  <a:srgbClr val="FFFFFF"/>
                </a:solidFill>
                <a:latin typeface="Times New Roman"/>
                <a:ea typeface="Times New Roman"/>
                <a:cs typeface="Times New Roman"/>
                <a:sym typeface="Times New Roman"/>
              </a:endParaRPr>
            </a:p>
          </p:txBody>
        </p:sp>
        <p:sp>
          <p:nvSpPr>
            <p:cNvPr id="206" name="Google Shape;206;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Synthetic Proxy Failure</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MAE-Recon hits 98.9% on simulation but fails (0.459 AUROC) on real MR-ART. Synthetic benchmarks are unreliable clinical proxies.</a:t>
              </a:r>
              <a:endParaRPr sz="1164">
                <a:solidFill>
                  <a:srgbClr val="333333"/>
                </a:solidFill>
                <a:latin typeface="Times New Roman"/>
                <a:ea typeface="Times New Roman"/>
                <a:cs typeface="Times New Roman"/>
                <a:sym typeface="Times New Roman"/>
              </a:endParaRPr>
            </a:p>
          </p:txBody>
        </p:sp>
      </p:grpSp>
      <p:grpSp>
        <p:nvGrpSpPr>
          <p:cNvPr id="207" name="Google Shape;207;g3e2b354850a_0_666"/>
          <p:cNvGrpSpPr/>
          <p:nvPr/>
        </p:nvGrpSpPr>
        <p:grpSpPr>
          <a:xfrm>
            <a:off x="3238500" y="3130000"/>
            <a:ext cx="2667000" cy="1619100"/>
            <a:chOff x="0" y="0"/>
            <a:chExt cx="2667000" cy="1619100"/>
          </a:xfrm>
        </p:grpSpPr>
        <p:sp>
          <p:nvSpPr>
            <p:cNvPr id="208" name="Google Shape;208;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g3e2b354850a_0_666"/>
            <p:cNvSpPr/>
            <p:nvPr/>
          </p:nvSpPr>
          <p:spPr>
            <a:xfrm>
              <a:off x="95250" y="95250"/>
              <a:ext cx="381000" cy="190500"/>
            </a:xfrm>
            <a:prstGeom prst="roundRect">
              <a:avLst>
                <a:gd fmla="val 20000" name="adj"/>
              </a:avLst>
            </a:prstGeom>
            <a:solidFill>
              <a:srgbClr val="44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F5</a:t>
              </a:r>
              <a:endParaRPr b="1" sz="1000">
                <a:solidFill>
                  <a:srgbClr val="FFFFFF"/>
                </a:solidFill>
                <a:latin typeface="Times New Roman"/>
                <a:ea typeface="Times New Roman"/>
                <a:cs typeface="Times New Roman"/>
                <a:sym typeface="Times New Roman"/>
              </a:endParaRPr>
            </a:p>
          </p:txBody>
        </p:sp>
        <p:sp>
          <p:nvSpPr>
            <p:cNvPr id="211" name="Google Shape;211;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Mild Artifacts Unsolved</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The most clinically relevant regime remains an open problem. PatchCore-kNN only reaches 0.623 AUROC on mild cases.</a:t>
              </a:r>
              <a:endParaRPr sz="1164">
                <a:solidFill>
                  <a:srgbClr val="333333"/>
                </a:solidFill>
                <a:latin typeface="Times New Roman"/>
                <a:ea typeface="Times New Roman"/>
                <a:cs typeface="Times New Roman"/>
                <a:sym typeface="Times New Roman"/>
              </a:endParaRPr>
            </a:p>
          </p:txBody>
        </p:sp>
      </p:grpSp>
      <p:grpSp>
        <p:nvGrpSpPr>
          <p:cNvPr id="212" name="Google Shape;212;g3e2b354850a_0_666"/>
          <p:cNvGrpSpPr/>
          <p:nvPr/>
        </p:nvGrpSpPr>
        <p:grpSpPr>
          <a:xfrm>
            <a:off x="6191250" y="3130000"/>
            <a:ext cx="2667000" cy="1619100"/>
            <a:chOff x="0" y="0"/>
            <a:chExt cx="2667000" cy="1619100"/>
          </a:xfrm>
        </p:grpSpPr>
        <p:sp>
          <p:nvSpPr>
            <p:cNvPr id="213" name="Google Shape;213;g3e2b354850a_0_666"/>
            <p:cNvSpPr/>
            <p:nvPr/>
          </p:nvSpPr>
          <p:spPr>
            <a:xfrm>
              <a:off x="0" y="0"/>
              <a:ext cx="2667000" cy="1619100"/>
            </a:xfrm>
            <a:prstGeom prst="roundRect">
              <a:avLst>
                <a:gd fmla="val 4705" name="adj"/>
              </a:avLst>
            </a:prstGeom>
            <a:solidFill>
              <a:srgbClr val="F8F9FA"/>
            </a:solidFill>
            <a:ln cap="flat" cmpd="sng" w="9525">
              <a:solidFill>
                <a:srgbClr val="EEEE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g3e2b354850a_0_666"/>
            <p:cNvSpPr/>
            <p:nvPr/>
          </p:nvSpPr>
          <p:spPr>
            <a:xfrm>
              <a:off x="95250" y="95250"/>
              <a:ext cx="381000" cy="190500"/>
            </a:xfrm>
            <a:prstGeom prst="roundRect">
              <a:avLst>
                <a:gd fmla="val 20000" name="adj"/>
              </a:avLst>
            </a:prstGeom>
            <a:solidFill>
              <a:srgbClr val="44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g3e2b354850a_0_666"/>
            <p:cNvSpPr txBox="1"/>
            <p:nvPr/>
          </p:nvSpPr>
          <p:spPr>
            <a:xfrm>
              <a:off x="95250" y="95250"/>
              <a:ext cx="381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300"/>
                </a:spcAft>
                <a:buNone/>
              </a:pPr>
              <a:r>
                <a:rPr b="1" lang="en-US" sz="1000">
                  <a:solidFill>
                    <a:srgbClr val="FFFFFF"/>
                  </a:solidFill>
                  <a:latin typeface="Times New Roman"/>
                  <a:ea typeface="Times New Roman"/>
                  <a:cs typeface="Times New Roman"/>
                  <a:sym typeface="Times New Roman"/>
                </a:rPr>
                <a:t>F6</a:t>
              </a:r>
              <a:endParaRPr b="1" sz="1000">
                <a:solidFill>
                  <a:srgbClr val="FFFFFF"/>
                </a:solidFill>
                <a:latin typeface="Times New Roman"/>
                <a:ea typeface="Times New Roman"/>
                <a:cs typeface="Times New Roman"/>
                <a:sym typeface="Times New Roman"/>
              </a:endParaRPr>
            </a:p>
          </p:txBody>
        </p:sp>
        <p:sp>
          <p:nvSpPr>
            <p:cNvPr id="216" name="Google Shape;216;g3e2b354850a_0_666"/>
            <p:cNvSpPr txBox="1"/>
            <p:nvPr/>
          </p:nvSpPr>
          <p:spPr>
            <a:xfrm>
              <a:off x="95250" y="333375"/>
              <a:ext cx="2476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80">
                  <a:solidFill>
                    <a:srgbClr val="FF3D00"/>
                  </a:solidFill>
                  <a:latin typeface="Times New Roman"/>
                  <a:ea typeface="Times New Roman"/>
                  <a:cs typeface="Times New Roman"/>
                  <a:sym typeface="Times New Roman"/>
                </a:rPr>
                <a:t>Training Budget Constraints</a:t>
              </a:r>
              <a:endParaRPr b="1" sz="1580">
                <a:solidFill>
                  <a:srgbClr val="FF3D00"/>
                </a:solidFill>
                <a:latin typeface="Times New Roman"/>
                <a:ea typeface="Times New Roman"/>
                <a:cs typeface="Times New Roman"/>
                <a:sym typeface="Times New Roman"/>
              </a:endParaRPr>
            </a:p>
            <a:p>
              <a:pPr indent="0" lvl="0" marL="0" rtl="0" algn="l">
                <a:spcBef>
                  <a:spcPts val="300"/>
                </a:spcBef>
                <a:spcAft>
                  <a:spcPts val="300"/>
                </a:spcAft>
                <a:buNone/>
              </a:pPr>
              <a:r>
                <a:rPr lang="en-US" sz="1164">
                  <a:solidFill>
                    <a:srgbClr val="333333"/>
                  </a:solidFill>
                  <a:latin typeface="Times New Roman"/>
                  <a:ea typeface="Times New Roman"/>
                  <a:cs typeface="Times New Roman"/>
                  <a:sym typeface="Times New Roman"/>
                </a:rPr>
                <a:t>20 epochs is insufficient for ViT-based MAE/DINO. Fast CNN convergence may artificially disadvantage Transformer methods.</a:t>
              </a:r>
              <a:endParaRPr sz="1164">
                <a:solidFill>
                  <a:srgbClr val="333333"/>
                </a:solidFill>
                <a:latin typeface="Times New Roman"/>
                <a:ea typeface="Times New Roman"/>
                <a:cs typeface="Times New Roman"/>
                <a:sym typeface="Times New Roman"/>
              </a:endParaRPr>
            </a:p>
          </p:txBody>
        </p:sp>
      </p:grpSp>
      <p:grpSp>
        <p:nvGrpSpPr>
          <p:cNvPr id="217" name="Google Shape;217;g3e2b354850a_0_666"/>
          <p:cNvGrpSpPr/>
          <p:nvPr/>
        </p:nvGrpSpPr>
        <p:grpSpPr>
          <a:xfrm>
            <a:off x="285750" y="4939750"/>
            <a:ext cx="8572500" cy="1475384"/>
            <a:chOff x="0" y="0"/>
            <a:chExt cx="8572500" cy="1333500"/>
          </a:xfrm>
        </p:grpSpPr>
        <p:sp>
          <p:nvSpPr>
            <p:cNvPr id="218" name="Google Shape;218;g3e2b354850a_0_666"/>
            <p:cNvSpPr/>
            <p:nvPr/>
          </p:nvSpPr>
          <p:spPr>
            <a:xfrm>
              <a:off x="0" y="0"/>
              <a:ext cx="8572500" cy="1333500"/>
            </a:xfrm>
            <a:prstGeom prst="roundRect">
              <a:avLst>
                <a:gd fmla="val 5714" name="adj"/>
              </a:avLst>
            </a:prstGeom>
            <a:solidFill>
              <a:srgbClr val="F0F4F8"/>
            </a:solidFill>
            <a:ln cap="flat" cmpd="sng" w="9525">
              <a:solidFill>
                <a:srgbClr val="D1D9E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g3e2b354850a_0_666"/>
            <p:cNvSpPr txBox="1"/>
            <p:nvPr/>
          </p:nvSpPr>
          <p:spPr>
            <a:xfrm>
              <a:off x="190500" y="142875"/>
              <a:ext cx="81915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65">
                  <a:solidFill>
                    <a:srgbClr val="FF3D00"/>
                  </a:solidFill>
                  <a:latin typeface="Times New Roman"/>
                  <a:ea typeface="Times New Roman"/>
                  <a:cs typeface="Times New Roman"/>
                  <a:sym typeface="Times New Roman"/>
                </a:rPr>
                <a:t>Critical Discussion &amp; Recommendations</a:t>
              </a:r>
              <a:endParaRPr b="1" sz="1665">
                <a:solidFill>
                  <a:srgbClr val="FF3D00"/>
                </a:solidFill>
                <a:latin typeface="Times New Roman"/>
                <a:ea typeface="Times New Roman"/>
                <a:cs typeface="Times New Roman"/>
                <a:sym typeface="Times New Roman"/>
              </a:endParaRPr>
            </a:p>
            <a:p>
              <a:pPr indent="-315198" lvl="0" marL="457200" rtl="0" algn="l">
                <a:spcBef>
                  <a:spcPts val="300"/>
                </a:spcBef>
                <a:spcAft>
                  <a:spcPts val="0"/>
                </a:spcAft>
                <a:buClr>
                  <a:srgbClr val="333333"/>
                </a:buClr>
                <a:buSzPts val="1364"/>
                <a:buFont typeface="Times New Roman"/>
                <a:buChar char="●"/>
              </a:pPr>
              <a:r>
                <a:rPr b="1" lang="en-US" sz="1364">
                  <a:solidFill>
                    <a:srgbClr val="333333"/>
                  </a:solidFill>
                  <a:latin typeface="Times New Roman"/>
                  <a:ea typeface="Times New Roman"/>
                  <a:cs typeface="Times New Roman"/>
                  <a:sym typeface="Times New Roman"/>
                </a:rPr>
                <a:t>Acquisition-Matched Pairs:</a:t>
              </a:r>
              <a:r>
                <a:rPr lang="en-US" sz="1364">
                  <a:solidFill>
                    <a:srgbClr val="333333"/>
                  </a:solidFill>
                  <a:latin typeface="Times New Roman"/>
                  <a:ea typeface="Times New Roman"/>
                  <a:cs typeface="Times New Roman"/>
                  <a:sym typeface="Times New Roman"/>
                </a:rPr>
                <a:t> Future supervised baselines must use clean/artifact pairs from the same scanner to avoid source-domain bias.</a:t>
              </a:r>
              <a:endParaRPr sz="1364">
                <a:solidFill>
                  <a:srgbClr val="333333"/>
                </a:solidFill>
                <a:latin typeface="Times New Roman"/>
                <a:ea typeface="Times New Roman"/>
                <a:cs typeface="Times New Roman"/>
                <a:sym typeface="Times New Roman"/>
              </a:endParaRPr>
            </a:p>
            <a:p>
              <a:pPr indent="-315198" lvl="0" marL="457200" rtl="0" algn="l">
                <a:spcBef>
                  <a:spcPts val="225"/>
                </a:spcBef>
                <a:spcAft>
                  <a:spcPts val="0"/>
                </a:spcAft>
                <a:buClr>
                  <a:srgbClr val="333333"/>
                </a:buClr>
                <a:buSzPts val="1364"/>
                <a:buFont typeface="Times New Roman"/>
                <a:buChar char="●"/>
              </a:pPr>
              <a:r>
                <a:rPr b="1" lang="en-US" sz="1364">
                  <a:solidFill>
                    <a:srgbClr val="333333"/>
                  </a:solidFill>
                  <a:latin typeface="Times New Roman"/>
                  <a:ea typeface="Times New Roman"/>
                  <a:cs typeface="Times New Roman"/>
                  <a:sym typeface="Times New Roman"/>
                </a:rPr>
                <a:t>Collapse Diagnostics:</a:t>
              </a:r>
              <a:r>
                <a:rPr lang="en-US" sz="1364">
                  <a:solidFill>
                    <a:srgbClr val="333333"/>
                  </a:solidFill>
                  <a:latin typeface="Times New Roman"/>
                  <a:ea typeface="Times New Roman"/>
                  <a:cs typeface="Times New Roman"/>
                  <a:sym typeface="Times New Roman"/>
                </a:rPr>
                <a:t> Groups using self-distillation (DINO) should routinely report rank and cosine similarity metrics.</a:t>
              </a:r>
              <a:endParaRPr sz="1364">
                <a:solidFill>
                  <a:srgbClr val="333333"/>
                </a:solidFill>
                <a:latin typeface="Times New Roman"/>
                <a:ea typeface="Times New Roman"/>
                <a:cs typeface="Times New Roman"/>
                <a:sym typeface="Times New Roman"/>
              </a:endParaRPr>
            </a:p>
            <a:p>
              <a:pPr indent="-315198" lvl="0" marL="457200" rtl="0" algn="l">
                <a:spcBef>
                  <a:spcPts val="225"/>
                </a:spcBef>
                <a:spcAft>
                  <a:spcPts val="225"/>
                </a:spcAft>
                <a:buClr>
                  <a:srgbClr val="333333"/>
                </a:buClr>
                <a:buSzPts val="1364"/>
                <a:buFont typeface="Times New Roman"/>
                <a:buChar char="●"/>
              </a:pPr>
              <a:r>
                <a:rPr b="1" lang="en-US" sz="1364">
                  <a:solidFill>
                    <a:srgbClr val="333333"/>
                  </a:solidFill>
                  <a:latin typeface="Times New Roman"/>
                  <a:ea typeface="Times New Roman"/>
                  <a:cs typeface="Times New Roman"/>
                  <a:sym typeface="Times New Roman"/>
                </a:rPr>
                <a:t>Clinical Regimes:</a:t>
              </a:r>
              <a:r>
                <a:rPr lang="en-US" sz="1364">
                  <a:solidFill>
                    <a:srgbClr val="333333"/>
                  </a:solidFill>
                  <a:latin typeface="Times New Roman"/>
                  <a:ea typeface="Times New Roman"/>
                  <a:cs typeface="Times New Roman"/>
                  <a:sym typeface="Times New Roman"/>
                </a:rPr>
                <a:t> Shift focus toward "Mild Artifact" detection which remains the key unsolved challenge.</a:t>
              </a:r>
              <a:endParaRPr sz="1364">
                <a:solidFill>
                  <a:srgbClr val="333333"/>
                </a:solidFill>
                <a:latin typeface="Times New Roman"/>
                <a:ea typeface="Times New Roman"/>
                <a:cs typeface="Times New Roman"/>
                <a:sym typeface="Times New Roman"/>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e2b354850a_0_1348"/>
          <p:cNvSpPr txBox="1"/>
          <p:nvPr/>
        </p:nvSpPr>
        <p:spPr>
          <a:xfrm>
            <a:off x="147600" y="25"/>
            <a:ext cx="66129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2900">
                <a:solidFill>
                  <a:schemeClr val="dk1"/>
                </a:solidFill>
                <a:latin typeface="Times New Roman"/>
                <a:ea typeface="Times New Roman"/>
                <a:cs typeface="Times New Roman"/>
                <a:sym typeface="Times New Roman"/>
              </a:rPr>
              <a:t>CONCLUSION</a:t>
            </a:r>
            <a:endParaRPr b="0" i="0" sz="2700" u="none" cap="none" strike="noStrike">
              <a:solidFill>
                <a:srgbClr val="000000"/>
              </a:solidFill>
              <a:latin typeface="Times New Roman"/>
              <a:ea typeface="Times New Roman"/>
              <a:cs typeface="Times New Roman"/>
              <a:sym typeface="Times New Roman"/>
            </a:endParaRPr>
          </a:p>
        </p:txBody>
      </p:sp>
      <p:sp>
        <p:nvSpPr>
          <p:cNvPr id="225" name="Google Shape;225;g3e2b354850a_0_134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226" name="Google Shape;226;g3e2b354850a_0_1348"/>
          <p:cNvSpPr txBox="1"/>
          <p:nvPr/>
        </p:nvSpPr>
        <p:spPr>
          <a:xfrm>
            <a:off x="342900" y="1452100"/>
            <a:ext cx="84582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15">
                <a:solidFill>
                  <a:srgbClr val="000000"/>
                </a:solidFill>
                <a:latin typeface="Times New Roman"/>
                <a:ea typeface="Times New Roman"/>
                <a:cs typeface="Times New Roman"/>
                <a:sym typeface="Times New Roman"/>
              </a:rPr>
              <a:t>CORE CONTRIBUTIONS: REDEFINING ARTIFACT DETECTION</a:t>
            </a:r>
            <a:endParaRPr b="1" sz="2015">
              <a:solidFill>
                <a:srgbClr val="000000"/>
              </a:solidFill>
              <a:latin typeface="Times New Roman"/>
              <a:ea typeface="Times New Roman"/>
              <a:cs typeface="Times New Roman"/>
              <a:sym typeface="Times New Roman"/>
            </a:endParaRPr>
          </a:p>
        </p:txBody>
      </p:sp>
      <p:grpSp>
        <p:nvGrpSpPr>
          <p:cNvPr id="227" name="Google Shape;227;g3e2b354850a_0_1348"/>
          <p:cNvGrpSpPr/>
          <p:nvPr/>
        </p:nvGrpSpPr>
        <p:grpSpPr>
          <a:xfrm>
            <a:off x="342900" y="2214100"/>
            <a:ext cx="8458200" cy="1143000"/>
            <a:chOff x="342900" y="1714500"/>
            <a:chExt cx="8458200" cy="1143000"/>
          </a:xfrm>
        </p:grpSpPr>
        <p:sp>
          <p:nvSpPr>
            <p:cNvPr id="228" name="Google Shape;228;g3e2b354850a_0_1348"/>
            <p:cNvSpPr/>
            <p:nvPr/>
          </p:nvSpPr>
          <p:spPr>
            <a:xfrm>
              <a:off x="342900" y="1714500"/>
              <a:ext cx="8458200" cy="1143000"/>
            </a:xfrm>
            <a:prstGeom prst="roundRect">
              <a:avLst>
                <a:gd fmla="val 6666"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29" name="Google Shape;229;g3e2b354850a_0_1348"/>
            <p:cNvSpPr/>
            <p:nvPr/>
          </p:nvSpPr>
          <p:spPr>
            <a:xfrm>
              <a:off x="342900" y="1714500"/>
              <a:ext cx="76200" cy="1143000"/>
            </a:xfrm>
            <a:prstGeom prst="roundRect">
              <a:avLst>
                <a:gd fmla="val 50000"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30" name="Google Shape;230;g3e2b354850a_0_1348"/>
            <p:cNvSpPr/>
            <p:nvPr/>
          </p:nvSpPr>
          <p:spPr>
            <a:xfrm>
              <a:off x="571500" y="1857375"/>
              <a:ext cx="381000" cy="285900"/>
            </a:xfrm>
            <a:prstGeom prst="roundRect">
              <a:avLst>
                <a:gd fmla="val 13333"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31" name="Google Shape;231;g3e2b354850a_0_1348"/>
            <p:cNvSpPr txBox="1"/>
            <p:nvPr/>
          </p:nvSpPr>
          <p:spPr>
            <a:xfrm>
              <a:off x="571500" y="1857375"/>
              <a:ext cx="381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FFFFFF"/>
                  </a:solidFill>
                  <a:latin typeface="Times New Roman"/>
                  <a:ea typeface="Times New Roman"/>
                  <a:cs typeface="Times New Roman"/>
                  <a:sym typeface="Times New Roman"/>
                </a:rPr>
                <a:t>01</a:t>
              </a:r>
              <a:endParaRPr b="1" sz="1700">
                <a:solidFill>
                  <a:srgbClr val="FFFFFF"/>
                </a:solidFill>
                <a:latin typeface="Times New Roman"/>
                <a:ea typeface="Times New Roman"/>
                <a:cs typeface="Times New Roman"/>
                <a:sym typeface="Times New Roman"/>
              </a:endParaRPr>
            </a:p>
          </p:txBody>
        </p:sp>
        <p:sp>
          <p:nvSpPr>
            <p:cNvPr id="232" name="Google Shape;232;g3e2b354850a_0_1348"/>
            <p:cNvSpPr txBox="1"/>
            <p:nvPr/>
          </p:nvSpPr>
          <p:spPr>
            <a:xfrm>
              <a:off x="1095375" y="1898269"/>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80">
                  <a:solidFill>
                    <a:srgbClr val="FF4500"/>
                  </a:solidFill>
                  <a:latin typeface="Material Icons"/>
                  <a:ea typeface="Material Icons"/>
                  <a:cs typeface="Material Icons"/>
                  <a:sym typeface="Material Icons"/>
                </a:rPr>
                <a:t>science</a:t>
              </a:r>
              <a:endParaRPr sz="2480">
                <a:solidFill>
                  <a:srgbClr val="FF4500"/>
                </a:solidFill>
                <a:latin typeface="Material Icons"/>
                <a:ea typeface="Material Icons"/>
                <a:cs typeface="Material Icons"/>
                <a:sym typeface="Material Icons"/>
              </a:endParaRPr>
            </a:p>
          </p:txBody>
        </p:sp>
        <p:sp>
          <p:nvSpPr>
            <p:cNvPr id="233" name="Google Shape;233;g3e2b354850a_0_1348"/>
            <p:cNvSpPr txBox="1"/>
            <p:nvPr/>
          </p:nvSpPr>
          <p:spPr>
            <a:xfrm>
              <a:off x="1905000" y="1857375"/>
              <a:ext cx="6667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FF4500"/>
                  </a:solidFill>
                  <a:latin typeface="Times New Roman"/>
                  <a:ea typeface="Times New Roman"/>
                  <a:cs typeface="Times New Roman"/>
                  <a:sym typeface="Times New Roman"/>
                </a:rPr>
                <a:t>MOST THOROUGH MULTI-PARADIGM COMPARISON</a:t>
              </a:r>
              <a:endParaRPr b="1" sz="1900">
                <a:solidFill>
                  <a:srgbClr val="FF4500"/>
                </a:solidFill>
                <a:latin typeface="Times New Roman"/>
                <a:ea typeface="Times New Roman"/>
                <a:cs typeface="Times New Roman"/>
                <a:sym typeface="Times New Roman"/>
              </a:endParaRPr>
            </a:p>
          </p:txBody>
        </p:sp>
        <p:sp>
          <p:nvSpPr>
            <p:cNvPr id="234" name="Google Shape;234;g3e2b354850a_0_1348"/>
            <p:cNvSpPr txBox="1"/>
            <p:nvPr/>
          </p:nvSpPr>
          <p:spPr>
            <a:xfrm>
              <a:off x="1905000" y="2190750"/>
              <a:ext cx="6667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333333"/>
                  </a:solidFill>
                  <a:latin typeface="Times New Roman"/>
                  <a:ea typeface="Times New Roman"/>
                  <a:cs typeface="Times New Roman"/>
                  <a:sym typeface="Times New Roman"/>
                </a:rPr>
                <a:t>Rigorously controlled experimental protocol across supervised, self-supervised, and unsupervised approaches for MRI artifact detection.</a:t>
              </a:r>
              <a:endParaRPr b="0" sz="1500">
                <a:solidFill>
                  <a:srgbClr val="333333"/>
                </a:solidFill>
                <a:latin typeface="Times New Roman"/>
                <a:ea typeface="Times New Roman"/>
                <a:cs typeface="Times New Roman"/>
                <a:sym typeface="Times New Roman"/>
              </a:endParaRPr>
            </a:p>
          </p:txBody>
        </p:sp>
      </p:grpSp>
      <p:grpSp>
        <p:nvGrpSpPr>
          <p:cNvPr id="235" name="Google Shape;235;g3e2b354850a_0_1348"/>
          <p:cNvGrpSpPr/>
          <p:nvPr/>
        </p:nvGrpSpPr>
        <p:grpSpPr>
          <a:xfrm>
            <a:off x="342900" y="3547600"/>
            <a:ext cx="8458200" cy="1143000"/>
            <a:chOff x="342900" y="3048000"/>
            <a:chExt cx="8458200" cy="1143000"/>
          </a:xfrm>
        </p:grpSpPr>
        <p:sp>
          <p:nvSpPr>
            <p:cNvPr id="236" name="Google Shape;236;g3e2b354850a_0_1348"/>
            <p:cNvSpPr/>
            <p:nvPr/>
          </p:nvSpPr>
          <p:spPr>
            <a:xfrm>
              <a:off x="342900" y="3048000"/>
              <a:ext cx="8458200" cy="1143000"/>
            </a:xfrm>
            <a:prstGeom prst="roundRect">
              <a:avLst>
                <a:gd fmla="val 6666"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37" name="Google Shape;237;g3e2b354850a_0_1348"/>
            <p:cNvSpPr/>
            <p:nvPr/>
          </p:nvSpPr>
          <p:spPr>
            <a:xfrm>
              <a:off x="342900" y="3048000"/>
              <a:ext cx="76200" cy="1143000"/>
            </a:xfrm>
            <a:prstGeom prst="roundRect">
              <a:avLst>
                <a:gd fmla="val 50000"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38" name="Google Shape;238;g3e2b354850a_0_1348"/>
            <p:cNvSpPr/>
            <p:nvPr/>
          </p:nvSpPr>
          <p:spPr>
            <a:xfrm>
              <a:off x="571500" y="3190875"/>
              <a:ext cx="381000" cy="285900"/>
            </a:xfrm>
            <a:prstGeom prst="roundRect">
              <a:avLst>
                <a:gd fmla="val 13333"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39" name="Google Shape;239;g3e2b354850a_0_1348"/>
            <p:cNvSpPr txBox="1"/>
            <p:nvPr/>
          </p:nvSpPr>
          <p:spPr>
            <a:xfrm>
              <a:off x="571500" y="3190875"/>
              <a:ext cx="381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FFFFFF"/>
                  </a:solidFill>
                  <a:latin typeface="Times New Roman"/>
                  <a:ea typeface="Times New Roman"/>
                  <a:cs typeface="Times New Roman"/>
                  <a:sym typeface="Times New Roman"/>
                </a:rPr>
                <a:t>02</a:t>
              </a:r>
              <a:endParaRPr b="1" sz="1700">
                <a:solidFill>
                  <a:srgbClr val="FFFFFF"/>
                </a:solidFill>
                <a:latin typeface="Times New Roman"/>
                <a:ea typeface="Times New Roman"/>
                <a:cs typeface="Times New Roman"/>
                <a:sym typeface="Times New Roman"/>
              </a:endParaRPr>
            </a:p>
          </p:txBody>
        </p:sp>
        <p:sp>
          <p:nvSpPr>
            <p:cNvPr id="240" name="Google Shape;240;g3e2b354850a_0_1348"/>
            <p:cNvSpPr txBox="1"/>
            <p:nvPr/>
          </p:nvSpPr>
          <p:spPr>
            <a:xfrm>
              <a:off x="1095375" y="3231769"/>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80">
                  <a:solidFill>
                    <a:srgbClr val="FF4500"/>
                  </a:solidFill>
                  <a:latin typeface="Material Icons"/>
                  <a:ea typeface="Material Icons"/>
                  <a:cs typeface="Material Icons"/>
                  <a:sym typeface="Material Icons"/>
                </a:rPr>
                <a:t>report_problem</a:t>
              </a:r>
              <a:endParaRPr sz="2480">
                <a:solidFill>
                  <a:srgbClr val="FF4500"/>
                </a:solidFill>
                <a:latin typeface="Material Icons"/>
                <a:ea typeface="Material Icons"/>
                <a:cs typeface="Material Icons"/>
                <a:sym typeface="Material Icons"/>
              </a:endParaRPr>
            </a:p>
          </p:txBody>
        </p:sp>
        <p:sp>
          <p:nvSpPr>
            <p:cNvPr id="241" name="Google Shape;241;g3e2b354850a_0_1348"/>
            <p:cNvSpPr txBox="1"/>
            <p:nvPr/>
          </p:nvSpPr>
          <p:spPr>
            <a:xfrm>
              <a:off x="1905000" y="3190875"/>
              <a:ext cx="6667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FF4500"/>
                  </a:solidFill>
                  <a:latin typeface="Times New Roman"/>
                  <a:ea typeface="Times New Roman"/>
                  <a:cs typeface="Times New Roman"/>
                  <a:sym typeface="Times New Roman"/>
                </a:rPr>
                <a:t>EXPOSED TWO CRITICAL FAILURE MODES</a:t>
              </a:r>
              <a:endParaRPr b="1" sz="1900">
                <a:solidFill>
                  <a:srgbClr val="FF4500"/>
                </a:solidFill>
                <a:latin typeface="Times New Roman"/>
                <a:ea typeface="Times New Roman"/>
                <a:cs typeface="Times New Roman"/>
                <a:sym typeface="Times New Roman"/>
              </a:endParaRPr>
            </a:p>
          </p:txBody>
        </p:sp>
        <p:sp>
          <p:nvSpPr>
            <p:cNvPr id="242" name="Google Shape;242;g3e2b354850a_0_1348"/>
            <p:cNvSpPr txBox="1"/>
            <p:nvPr/>
          </p:nvSpPr>
          <p:spPr>
            <a:xfrm>
              <a:off x="1905000" y="3524250"/>
              <a:ext cx="6667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333333"/>
                  </a:solidFill>
                  <a:latin typeface="Times New Roman"/>
                  <a:ea typeface="Times New Roman"/>
                  <a:cs typeface="Times New Roman"/>
                  <a:sym typeface="Times New Roman"/>
                </a:rPr>
                <a:t>Supervised shortcut learning from domain mismatch and the synthetic-real artifact gap—likely unreported in prior work.</a:t>
              </a:r>
              <a:endParaRPr b="0" sz="1500">
                <a:solidFill>
                  <a:srgbClr val="333333"/>
                </a:solidFill>
                <a:latin typeface="Times New Roman"/>
                <a:ea typeface="Times New Roman"/>
                <a:cs typeface="Times New Roman"/>
                <a:sym typeface="Times New Roman"/>
              </a:endParaRPr>
            </a:p>
          </p:txBody>
        </p:sp>
      </p:grpSp>
      <p:grpSp>
        <p:nvGrpSpPr>
          <p:cNvPr id="243" name="Google Shape;243;g3e2b354850a_0_1348"/>
          <p:cNvGrpSpPr/>
          <p:nvPr/>
        </p:nvGrpSpPr>
        <p:grpSpPr>
          <a:xfrm>
            <a:off x="342900" y="4881100"/>
            <a:ext cx="8458200" cy="1143000"/>
            <a:chOff x="342900" y="4381500"/>
            <a:chExt cx="8458200" cy="1143000"/>
          </a:xfrm>
        </p:grpSpPr>
        <p:sp>
          <p:nvSpPr>
            <p:cNvPr id="244" name="Google Shape;244;g3e2b354850a_0_1348"/>
            <p:cNvSpPr/>
            <p:nvPr/>
          </p:nvSpPr>
          <p:spPr>
            <a:xfrm>
              <a:off x="342900" y="4381500"/>
              <a:ext cx="8458200" cy="1143000"/>
            </a:xfrm>
            <a:prstGeom prst="roundRect">
              <a:avLst>
                <a:gd fmla="val 6666" name="adj"/>
              </a:avLst>
            </a:prstGeom>
            <a:solidFill>
              <a:srgbClr val="F2F2F2"/>
            </a:solidFill>
            <a:ln cap="flat" cmpd="sng" w="9525">
              <a:solidFill>
                <a:srgbClr val="D9D9D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45" name="Google Shape;245;g3e2b354850a_0_1348"/>
            <p:cNvSpPr/>
            <p:nvPr/>
          </p:nvSpPr>
          <p:spPr>
            <a:xfrm>
              <a:off x="342900" y="4381500"/>
              <a:ext cx="76200" cy="1143000"/>
            </a:xfrm>
            <a:prstGeom prst="roundRect">
              <a:avLst>
                <a:gd fmla="val 50000"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46" name="Google Shape;246;g3e2b354850a_0_1348"/>
            <p:cNvSpPr/>
            <p:nvPr/>
          </p:nvSpPr>
          <p:spPr>
            <a:xfrm>
              <a:off x="571500" y="4524375"/>
              <a:ext cx="381000" cy="285900"/>
            </a:xfrm>
            <a:prstGeom prst="roundRect">
              <a:avLst>
                <a:gd fmla="val 13333" name="adj"/>
              </a:avLst>
            </a:prstGeom>
            <a:solidFill>
              <a:srgbClr val="FF4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47" name="Google Shape;247;g3e2b354850a_0_1348"/>
            <p:cNvSpPr txBox="1"/>
            <p:nvPr/>
          </p:nvSpPr>
          <p:spPr>
            <a:xfrm>
              <a:off x="571500" y="4524375"/>
              <a:ext cx="381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700">
                  <a:solidFill>
                    <a:srgbClr val="FFFFFF"/>
                  </a:solidFill>
                  <a:latin typeface="Times New Roman"/>
                  <a:ea typeface="Times New Roman"/>
                  <a:cs typeface="Times New Roman"/>
                  <a:sym typeface="Times New Roman"/>
                </a:rPr>
                <a:t>03</a:t>
              </a:r>
              <a:endParaRPr b="1" sz="1700">
                <a:solidFill>
                  <a:srgbClr val="FFFFFF"/>
                </a:solidFill>
                <a:latin typeface="Times New Roman"/>
                <a:ea typeface="Times New Roman"/>
                <a:cs typeface="Times New Roman"/>
                <a:sym typeface="Times New Roman"/>
              </a:endParaRPr>
            </a:p>
          </p:txBody>
        </p:sp>
        <p:sp>
          <p:nvSpPr>
            <p:cNvPr id="248" name="Google Shape;248;g3e2b354850a_0_1348"/>
            <p:cNvSpPr txBox="1"/>
            <p:nvPr/>
          </p:nvSpPr>
          <p:spPr>
            <a:xfrm>
              <a:off x="1095375" y="4565269"/>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80">
                  <a:solidFill>
                    <a:srgbClr val="FF4500"/>
                  </a:solidFill>
                  <a:latin typeface="Material Icons"/>
                  <a:ea typeface="Material Icons"/>
                  <a:cs typeface="Material Icons"/>
                  <a:sym typeface="Material Icons"/>
                </a:rPr>
                <a:t>layers_clear</a:t>
              </a:r>
              <a:endParaRPr sz="2480">
                <a:solidFill>
                  <a:srgbClr val="FF4500"/>
                </a:solidFill>
                <a:latin typeface="Material Icons"/>
                <a:ea typeface="Material Icons"/>
                <a:cs typeface="Material Icons"/>
                <a:sym typeface="Material Icons"/>
              </a:endParaRPr>
            </a:p>
          </p:txBody>
        </p:sp>
        <p:sp>
          <p:nvSpPr>
            <p:cNvPr id="249" name="Google Shape;249;g3e2b354850a_0_1348"/>
            <p:cNvSpPr txBox="1"/>
            <p:nvPr/>
          </p:nvSpPr>
          <p:spPr>
            <a:xfrm>
              <a:off x="1905000" y="4524375"/>
              <a:ext cx="6667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FF4500"/>
                  </a:solidFill>
                  <a:latin typeface="Times New Roman"/>
                  <a:ea typeface="Times New Roman"/>
                  <a:cs typeface="Times New Roman"/>
                  <a:sym typeface="Times New Roman"/>
                </a:rPr>
                <a:t>DEMONSTRATED REPRESENTATIONAL COLLAPSE RISK</a:t>
              </a:r>
              <a:endParaRPr b="1" sz="1900">
                <a:solidFill>
                  <a:srgbClr val="FF4500"/>
                </a:solidFill>
                <a:latin typeface="Times New Roman"/>
                <a:ea typeface="Times New Roman"/>
                <a:cs typeface="Times New Roman"/>
                <a:sym typeface="Times New Roman"/>
              </a:endParaRPr>
            </a:p>
          </p:txBody>
        </p:sp>
        <p:sp>
          <p:nvSpPr>
            <p:cNvPr id="250" name="Google Shape;250;g3e2b354850a_0_1348"/>
            <p:cNvSpPr txBox="1"/>
            <p:nvPr/>
          </p:nvSpPr>
          <p:spPr>
            <a:xfrm>
              <a:off x="1905000" y="4857750"/>
              <a:ext cx="6667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333333"/>
                  </a:solidFill>
                  <a:latin typeface="Times New Roman"/>
                  <a:ea typeface="Times New Roman"/>
                  <a:cs typeface="Times New Roman"/>
                  <a:sym typeface="Times New Roman"/>
                </a:rPr>
                <a:t>Self-distillation on narrow medical imaging corpora collapses; multi-anatomy training is a simple and effective mitigation.</a:t>
              </a:r>
              <a:endParaRPr b="0" sz="1500">
                <a:solidFill>
                  <a:srgbClr val="333333"/>
                </a:solidFill>
                <a:latin typeface="Times New Roman"/>
                <a:ea typeface="Times New Roman"/>
                <a:cs typeface="Times New Roman"/>
                <a:sym typeface="Times New Roman"/>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256" name="Google Shape;256;p3"/>
          <p:cNvSpPr txBox="1"/>
          <p:nvPr/>
        </p:nvSpPr>
        <p:spPr>
          <a:xfrm>
            <a:off x="381000" y="1143000"/>
            <a:ext cx="4191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6400">
                <a:solidFill>
                  <a:srgbClr val="000000"/>
                </a:solidFill>
                <a:latin typeface="Times New Roman"/>
                <a:ea typeface="Times New Roman"/>
                <a:cs typeface="Times New Roman"/>
                <a:sym typeface="Times New Roman"/>
              </a:rPr>
              <a:t>Thank You</a:t>
            </a:r>
            <a:endParaRPr b="0" sz="6400">
              <a:solidFill>
                <a:srgbClr val="000000"/>
              </a:solidFill>
              <a:latin typeface="Times New Roman"/>
              <a:ea typeface="Times New Roman"/>
              <a:cs typeface="Times New Roman"/>
              <a:sym typeface="Times New Roman"/>
            </a:endParaRPr>
          </a:p>
        </p:txBody>
      </p:sp>
      <p:sp>
        <p:nvSpPr>
          <p:cNvPr id="257" name="Google Shape;257;p3"/>
          <p:cNvSpPr txBox="1"/>
          <p:nvPr/>
        </p:nvSpPr>
        <p:spPr>
          <a:xfrm>
            <a:off x="381000" y="2190750"/>
            <a:ext cx="4191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400">
                <a:solidFill>
                  <a:srgbClr val="444444"/>
                </a:solidFill>
                <a:latin typeface="Times New Roman"/>
                <a:ea typeface="Times New Roman"/>
                <a:cs typeface="Times New Roman"/>
                <a:sym typeface="Times New Roman"/>
              </a:rPr>
              <a:t>Questions &amp; Discussion Welcome</a:t>
            </a:r>
            <a:endParaRPr b="0" sz="2400">
              <a:solidFill>
                <a:srgbClr val="444444"/>
              </a:solidFill>
              <a:latin typeface="Times New Roman"/>
              <a:ea typeface="Times New Roman"/>
              <a:cs typeface="Times New Roman"/>
              <a:sym typeface="Times New Roman"/>
            </a:endParaRPr>
          </a:p>
        </p:txBody>
      </p:sp>
      <p:sp>
        <p:nvSpPr>
          <p:cNvPr id="258" name="Google Shape;258;p3"/>
          <p:cNvSpPr txBox="1"/>
          <p:nvPr/>
        </p:nvSpPr>
        <p:spPr>
          <a:xfrm>
            <a:off x="381000" y="3238500"/>
            <a:ext cx="4191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00000"/>
                </a:solidFill>
                <a:latin typeface="Times New Roman"/>
                <a:ea typeface="Times New Roman"/>
                <a:cs typeface="Times New Roman"/>
                <a:sym typeface="Times New Roman"/>
              </a:rPr>
              <a:t>Soumya Makkar</a:t>
            </a:r>
            <a:endParaRPr b="1" sz="18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US" sz="1300">
                <a:solidFill>
                  <a:srgbClr val="666666"/>
                </a:solidFill>
                <a:latin typeface="Times New Roman"/>
                <a:ea typeface="Times New Roman"/>
                <a:cs typeface="Times New Roman"/>
                <a:sym typeface="Times New Roman"/>
              </a:rPr>
              <a:t>Chitkara University Institute of Engineering and Technology</a:t>
            </a:r>
            <a:endParaRPr sz="1300">
              <a:solidFill>
                <a:srgbClr val="666666"/>
              </a:solidFill>
              <a:latin typeface="Times New Roman"/>
              <a:ea typeface="Times New Roman"/>
              <a:cs typeface="Times New Roman"/>
              <a:sym typeface="Times New Roman"/>
            </a:endParaRPr>
          </a:p>
          <a:p>
            <a:pPr indent="0" lvl="0" marL="0" rtl="0" algn="l">
              <a:spcBef>
                <a:spcPts val="0"/>
              </a:spcBef>
              <a:spcAft>
                <a:spcPts val="0"/>
              </a:spcAft>
              <a:buNone/>
            </a:pPr>
            <a:r>
              <a:rPr b="1" lang="en-US" sz="1300">
                <a:solidFill>
                  <a:srgbClr val="FF3D00"/>
                </a:solidFill>
                <a:latin typeface="Times New Roman"/>
                <a:ea typeface="Times New Roman"/>
                <a:cs typeface="Times New Roman"/>
                <a:sym typeface="Times New Roman"/>
              </a:rPr>
              <a:t>soumyaamakkar@gmail.com</a:t>
            </a:r>
            <a:endParaRPr b="1" sz="1300">
              <a:solidFill>
                <a:srgbClr val="FF3D00"/>
              </a:solidFill>
              <a:latin typeface="Times New Roman"/>
              <a:ea typeface="Times New Roman"/>
              <a:cs typeface="Times New Roman"/>
              <a:sym typeface="Times New Roman"/>
            </a:endParaRPr>
          </a:p>
        </p:txBody>
      </p:sp>
      <p:sp>
        <p:nvSpPr>
          <p:cNvPr id="259" name="Google Shape;259;p3"/>
          <p:cNvSpPr txBox="1"/>
          <p:nvPr/>
        </p:nvSpPr>
        <p:spPr>
          <a:xfrm>
            <a:off x="381000" y="4381500"/>
            <a:ext cx="20001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FF3D00"/>
                </a:solidFill>
                <a:latin typeface="Times New Roman"/>
                <a:ea typeface="Times New Roman"/>
                <a:cs typeface="Times New Roman"/>
                <a:sym typeface="Times New Roman"/>
              </a:rPr>
              <a:t>Datasets</a:t>
            </a:r>
            <a:endParaRPr b="1" sz="1400">
              <a:solidFill>
                <a:srgbClr val="FF3D00"/>
              </a:solidFill>
              <a:latin typeface="Times New Roman"/>
              <a:ea typeface="Times New Roman"/>
              <a:cs typeface="Times New Roman"/>
              <a:sym typeface="Times New Roman"/>
            </a:endParaRPr>
          </a:p>
          <a:p>
            <a:pPr indent="0" lvl="0" marL="0" rtl="0" algn="l">
              <a:spcBef>
                <a:spcPts val="300"/>
              </a:spcBef>
              <a:spcAft>
                <a:spcPts val="900"/>
              </a:spcAft>
              <a:buNone/>
            </a:pPr>
            <a:r>
              <a:rPr lang="en-US" sz="1200">
                <a:solidFill>
                  <a:srgbClr val="333333"/>
                </a:solidFill>
                <a:latin typeface="Times New Roman"/>
                <a:ea typeface="Times New Roman"/>
                <a:cs typeface="Times New Roman"/>
                <a:sym typeface="Times New Roman"/>
              </a:rPr>
              <a:t>IXI, FastMRI (NYU Langone), MR-ART (OpenNeuro ds004173), KMAR-50K (Mendeley)</a:t>
            </a:r>
            <a:endParaRPr sz="1200">
              <a:solidFill>
                <a:srgbClr val="333333"/>
              </a:solidFill>
              <a:latin typeface="Times New Roman"/>
              <a:ea typeface="Times New Roman"/>
              <a:cs typeface="Times New Roman"/>
              <a:sym typeface="Times New Roman"/>
            </a:endParaRPr>
          </a:p>
        </p:txBody>
      </p:sp>
      <p:sp>
        <p:nvSpPr>
          <p:cNvPr id="260" name="Google Shape;260;p3"/>
          <p:cNvSpPr txBox="1"/>
          <p:nvPr/>
        </p:nvSpPr>
        <p:spPr>
          <a:xfrm>
            <a:off x="2571750" y="4381500"/>
            <a:ext cx="20001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FF3D00"/>
                </a:solidFill>
                <a:latin typeface="Times New Roman"/>
                <a:ea typeface="Times New Roman"/>
                <a:cs typeface="Times New Roman"/>
                <a:sym typeface="Times New Roman"/>
              </a:rPr>
              <a:t>Models</a:t>
            </a:r>
            <a:endParaRPr b="1" sz="1400">
              <a:solidFill>
                <a:srgbClr val="FF3D00"/>
              </a:solidFill>
              <a:latin typeface="Times New Roman"/>
              <a:ea typeface="Times New Roman"/>
              <a:cs typeface="Times New Roman"/>
              <a:sym typeface="Times New Roman"/>
            </a:endParaRPr>
          </a:p>
          <a:p>
            <a:pPr indent="0" lvl="0" marL="0" rtl="0" algn="l">
              <a:spcBef>
                <a:spcPts val="300"/>
              </a:spcBef>
              <a:spcAft>
                <a:spcPts val="900"/>
              </a:spcAft>
              <a:buNone/>
            </a:pPr>
            <a:r>
              <a:rPr lang="en-US" sz="1050">
                <a:solidFill>
                  <a:srgbClr val="1F1F1F"/>
                </a:solidFill>
                <a:latin typeface="Times New Roman"/>
                <a:ea typeface="Times New Roman"/>
                <a:cs typeface="Times New Roman"/>
                <a:sym typeface="Times New Roman"/>
              </a:rPr>
              <a:t>ResNet-18 (He et al. 2016), EfficientNet-B0 (Tan &amp; Le 2019), SimCLR (Chen et al. 2020), DINO (Caron et al. 2021), ViT-MAE (He et al. 2022), PatchCore (Roth et al. 2022)</a:t>
            </a:r>
            <a:endParaRPr sz="1200">
              <a:solidFill>
                <a:srgbClr val="333333"/>
              </a:solidFill>
              <a:latin typeface="Times New Roman"/>
              <a:ea typeface="Times New Roman"/>
              <a:cs typeface="Times New Roman"/>
              <a:sym typeface="Times New Roman"/>
            </a:endParaRPr>
          </a:p>
        </p:txBody>
      </p:sp>
      <p:pic>
        <p:nvPicPr>
          <p:cNvPr id="261" name="Google Shape;261;p3"/>
          <p:cNvPicPr preferRelativeResize="0"/>
          <p:nvPr/>
        </p:nvPicPr>
        <p:blipFill>
          <a:blip r:embed="rId3">
            <a:alphaModFix/>
          </a:blip>
          <a:stretch>
            <a:fillRect/>
          </a:stretch>
        </p:blipFill>
        <p:spPr>
          <a:xfrm>
            <a:off x="4912477" y="1071993"/>
            <a:ext cx="3875950" cy="5480404"/>
          </a:xfrm>
          <a:prstGeom prst="rect">
            <a:avLst/>
          </a:prstGeom>
          <a:solidFill>
            <a:srgbClr val="000000">
              <a:alpha val="0"/>
            </a:srgbClr>
          </a:solidFill>
          <a:ln cap="flat" cmpd="sng" w="9525">
            <a:solidFill>
              <a:srgbClr val="EEEEEE"/>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